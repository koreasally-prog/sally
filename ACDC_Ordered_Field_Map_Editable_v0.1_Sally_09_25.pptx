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6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776" y="11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8;p20">
            <a:extLst>
              <a:ext uri="{FF2B5EF4-FFF2-40B4-BE49-F238E27FC236}">
                <a16:creationId xmlns:a16="http://schemas.microsoft.com/office/drawing/2014/main" id="{93B8B27D-7CC7-8F7B-A6E8-4FC065BF1E43}"/>
              </a:ext>
            </a:extLst>
          </p:cNvPr>
          <p:cNvSpPr/>
          <p:nvPr/>
        </p:nvSpPr>
        <p:spPr>
          <a:xfrm>
            <a:off x="7849300" y="970927"/>
            <a:ext cx="1271700" cy="84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Service Authority (Issuer)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" name="Google Shape;169;p20">
            <a:extLst>
              <a:ext uri="{FF2B5EF4-FFF2-40B4-BE49-F238E27FC236}">
                <a16:creationId xmlns:a16="http://schemas.microsoft.com/office/drawing/2014/main" id="{0AFB1E2B-9D54-9471-042D-2CC1E63048A6}"/>
              </a:ext>
            </a:extLst>
          </p:cNvPr>
          <p:cNvSpPr/>
          <p:nvPr/>
        </p:nvSpPr>
        <p:spPr>
          <a:xfrm>
            <a:off x="4417750" y="970934"/>
            <a:ext cx="1110900" cy="84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Application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" name="Google Shape;170;p20">
            <a:extLst>
              <a:ext uri="{FF2B5EF4-FFF2-40B4-BE49-F238E27FC236}">
                <a16:creationId xmlns:a16="http://schemas.microsoft.com/office/drawing/2014/main" id="{05C1F439-77A2-F9D0-3AC0-F6B5E747CF77}"/>
              </a:ext>
            </a:extLst>
          </p:cNvPr>
          <p:cNvSpPr/>
          <p:nvPr/>
        </p:nvSpPr>
        <p:spPr>
          <a:xfrm>
            <a:off x="4417750" y="2754725"/>
            <a:ext cx="1110900" cy="84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(Client)</a:t>
            </a:r>
            <a:endParaRPr/>
          </a:p>
        </p:txBody>
      </p:sp>
      <p:cxnSp>
        <p:nvCxnSpPr>
          <p:cNvPr id="5" name="Google Shape;171;p20">
            <a:extLst>
              <a:ext uri="{FF2B5EF4-FFF2-40B4-BE49-F238E27FC236}">
                <a16:creationId xmlns:a16="http://schemas.microsoft.com/office/drawing/2014/main" id="{6D9D7FB7-571D-284A-B786-DAFE44C04C3F}"/>
              </a:ext>
            </a:extLst>
          </p:cNvPr>
          <p:cNvCxnSpPr>
            <a:stCxn id="2" idx="1"/>
            <a:endCxn id="3" idx="3"/>
          </p:cNvCxnSpPr>
          <p:nvPr/>
        </p:nvCxnSpPr>
        <p:spPr>
          <a:xfrm rot="10800000">
            <a:off x="5528500" y="1393477"/>
            <a:ext cx="23208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" name="Google Shape;172;p20">
            <a:extLst>
              <a:ext uri="{FF2B5EF4-FFF2-40B4-BE49-F238E27FC236}">
                <a16:creationId xmlns:a16="http://schemas.microsoft.com/office/drawing/2014/main" id="{A275FCFB-07C7-9B1E-B316-FA6F6C72F5E2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4973200" y="1816034"/>
            <a:ext cx="0" cy="938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" name="Google Shape;173;p20">
            <a:extLst>
              <a:ext uri="{FF2B5EF4-FFF2-40B4-BE49-F238E27FC236}">
                <a16:creationId xmlns:a16="http://schemas.microsoft.com/office/drawing/2014/main" id="{C537FE03-6994-0B6A-19F6-E5C41677FCBF}"/>
              </a:ext>
            </a:extLst>
          </p:cNvPr>
          <p:cNvCxnSpPr>
            <a:stCxn id="4" idx="3"/>
            <a:endCxn id="14" idx="1"/>
          </p:cNvCxnSpPr>
          <p:nvPr/>
        </p:nvCxnSpPr>
        <p:spPr>
          <a:xfrm>
            <a:off x="5528650" y="3177275"/>
            <a:ext cx="232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" name="Google Shape;175;p20">
            <a:extLst>
              <a:ext uri="{FF2B5EF4-FFF2-40B4-BE49-F238E27FC236}">
                <a16:creationId xmlns:a16="http://schemas.microsoft.com/office/drawing/2014/main" id="{A902E85A-815F-A390-F0C0-56272CA44429}"/>
              </a:ext>
            </a:extLst>
          </p:cNvPr>
          <p:cNvSpPr txBox="1"/>
          <p:nvPr/>
        </p:nvSpPr>
        <p:spPr>
          <a:xfrm>
            <a:off x="5997775" y="931784"/>
            <a:ext cx="1552500" cy="3540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9999"/>
                </a:solidFill>
              </a:rPr>
              <a:t>Delegation/Issuance</a:t>
            </a:r>
            <a:endParaRPr sz="1100">
              <a:solidFill>
                <a:srgbClr val="999999"/>
              </a:solidFill>
            </a:endParaRPr>
          </a:p>
        </p:txBody>
      </p:sp>
      <p:sp>
        <p:nvSpPr>
          <p:cNvPr id="9" name="Google Shape;176;p20">
            <a:extLst>
              <a:ext uri="{FF2B5EF4-FFF2-40B4-BE49-F238E27FC236}">
                <a16:creationId xmlns:a16="http://schemas.microsoft.com/office/drawing/2014/main" id="{8E56052F-B30C-A9FD-6EE4-7A72B6F53146}"/>
              </a:ext>
            </a:extLst>
          </p:cNvPr>
          <p:cNvSpPr txBox="1"/>
          <p:nvPr/>
        </p:nvSpPr>
        <p:spPr>
          <a:xfrm>
            <a:off x="3420700" y="1816159"/>
            <a:ext cx="1552500" cy="3387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Delegation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0" name="Google Shape;177;p20">
            <a:extLst>
              <a:ext uri="{FF2B5EF4-FFF2-40B4-BE49-F238E27FC236}">
                <a16:creationId xmlns:a16="http://schemas.microsoft.com/office/drawing/2014/main" id="{BF2FE8A3-05AE-AED0-6D07-340AF756964D}"/>
              </a:ext>
            </a:extLst>
          </p:cNvPr>
          <p:cNvSpPr txBox="1"/>
          <p:nvPr/>
        </p:nvSpPr>
        <p:spPr>
          <a:xfrm>
            <a:off x="5896225" y="2597075"/>
            <a:ext cx="1585500" cy="3387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Invocation/Authorization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1" name="Google Shape;178;p20">
            <a:extLst>
              <a:ext uri="{FF2B5EF4-FFF2-40B4-BE49-F238E27FC236}">
                <a16:creationId xmlns:a16="http://schemas.microsoft.com/office/drawing/2014/main" id="{42FBD787-E517-ADC0-D564-164C6E70923C}"/>
              </a:ext>
            </a:extLst>
          </p:cNvPr>
          <p:cNvCxnSpPr/>
          <p:nvPr/>
        </p:nvCxnSpPr>
        <p:spPr>
          <a:xfrm rot="10800000" flipH="1">
            <a:off x="5542300" y="3426029"/>
            <a:ext cx="2300100" cy="4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" name="Google Shape;179;p20">
            <a:extLst>
              <a:ext uri="{FF2B5EF4-FFF2-40B4-BE49-F238E27FC236}">
                <a16:creationId xmlns:a16="http://schemas.microsoft.com/office/drawing/2014/main" id="{AA2E30E2-4465-1FA4-EA11-DF5DA562DB7E}"/>
              </a:ext>
            </a:extLst>
          </p:cNvPr>
          <p:cNvSpPr txBox="1"/>
          <p:nvPr/>
        </p:nvSpPr>
        <p:spPr>
          <a:xfrm>
            <a:off x="6404875" y="3426027"/>
            <a:ext cx="738300" cy="461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MCP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" name="Google Shape;180;p20">
            <a:extLst>
              <a:ext uri="{FF2B5EF4-FFF2-40B4-BE49-F238E27FC236}">
                <a16:creationId xmlns:a16="http://schemas.microsoft.com/office/drawing/2014/main" id="{6412D12F-28D0-DA69-60D6-8B6F70F9CB07}"/>
              </a:ext>
            </a:extLst>
          </p:cNvPr>
          <p:cNvSpPr txBox="1"/>
          <p:nvPr/>
        </p:nvSpPr>
        <p:spPr>
          <a:xfrm>
            <a:off x="898658" y="5296550"/>
            <a:ext cx="23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DRAFT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" name="Google Shape;174;p20">
            <a:extLst>
              <a:ext uri="{FF2B5EF4-FFF2-40B4-BE49-F238E27FC236}">
                <a16:creationId xmlns:a16="http://schemas.microsoft.com/office/drawing/2014/main" id="{0B42DC09-7B4B-F13C-5D20-0648BBE2142B}"/>
              </a:ext>
            </a:extLst>
          </p:cNvPr>
          <p:cNvSpPr/>
          <p:nvPr/>
        </p:nvSpPr>
        <p:spPr>
          <a:xfrm>
            <a:off x="7849300" y="2754727"/>
            <a:ext cx="1271700" cy="84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(Server)</a:t>
            </a:r>
            <a:endParaRPr/>
          </a:p>
        </p:txBody>
      </p:sp>
      <p:cxnSp>
        <p:nvCxnSpPr>
          <p:cNvPr id="15" name="Google Shape;181;p20">
            <a:extLst>
              <a:ext uri="{FF2B5EF4-FFF2-40B4-BE49-F238E27FC236}">
                <a16:creationId xmlns:a16="http://schemas.microsoft.com/office/drawing/2014/main" id="{821D42DA-739B-E90F-84B2-0D57304EA547}"/>
              </a:ext>
            </a:extLst>
          </p:cNvPr>
          <p:cNvCxnSpPr>
            <a:stCxn id="16" idx="3"/>
            <a:endCxn id="4" idx="1"/>
          </p:cNvCxnSpPr>
          <p:nvPr/>
        </p:nvCxnSpPr>
        <p:spPr>
          <a:xfrm>
            <a:off x="2379175" y="3176977"/>
            <a:ext cx="2038500" cy="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" name="Google Shape;182;p20">
            <a:extLst>
              <a:ext uri="{FF2B5EF4-FFF2-40B4-BE49-F238E27FC236}">
                <a16:creationId xmlns:a16="http://schemas.microsoft.com/office/drawing/2014/main" id="{CFDF6196-AA93-AF48-D58C-8A41F342696B}"/>
              </a:ext>
            </a:extLst>
          </p:cNvPr>
          <p:cNvSpPr/>
          <p:nvPr/>
        </p:nvSpPr>
        <p:spPr>
          <a:xfrm>
            <a:off x="1107475" y="2754427"/>
            <a:ext cx="1271700" cy="84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Other Issuers of authorities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7" name="Google Shape;183;p20">
            <a:extLst>
              <a:ext uri="{FF2B5EF4-FFF2-40B4-BE49-F238E27FC236}">
                <a16:creationId xmlns:a16="http://schemas.microsoft.com/office/drawing/2014/main" id="{9A2676EA-9A4A-863E-E569-61CE374ABE4B}"/>
              </a:ext>
            </a:extLst>
          </p:cNvPr>
          <p:cNvSpPr/>
          <p:nvPr/>
        </p:nvSpPr>
        <p:spPr>
          <a:xfrm>
            <a:off x="4417750" y="4538525"/>
            <a:ext cx="1110900" cy="84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Agent</a:t>
            </a:r>
            <a:endParaRPr/>
          </a:p>
        </p:txBody>
      </p:sp>
      <p:cxnSp>
        <p:nvCxnSpPr>
          <p:cNvPr id="18" name="Google Shape;184;p20">
            <a:extLst>
              <a:ext uri="{FF2B5EF4-FFF2-40B4-BE49-F238E27FC236}">
                <a16:creationId xmlns:a16="http://schemas.microsoft.com/office/drawing/2014/main" id="{BCFC5A1F-6FD9-D887-F6BA-7D2F12ED06BD}"/>
              </a:ext>
            </a:extLst>
          </p:cNvPr>
          <p:cNvCxnSpPr>
            <a:stCxn id="4" idx="2"/>
            <a:endCxn id="17" idx="0"/>
          </p:cNvCxnSpPr>
          <p:nvPr/>
        </p:nvCxnSpPr>
        <p:spPr>
          <a:xfrm>
            <a:off x="4973200" y="3599825"/>
            <a:ext cx="0" cy="93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" name="Google Shape;185;p20">
            <a:extLst>
              <a:ext uri="{FF2B5EF4-FFF2-40B4-BE49-F238E27FC236}">
                <a16:creationId xmlns:a16="http://schemas.microsoft.com/office/drawing/2014/main" id="{B6EADC91-E567-2923-A908-29B4A15E9B70}"/>
              </a:ext>
            </a:extLst>
          </p:cNvPr>
          <p:cNvCxnSpPr/>
          <p:nvPr/>
        </p:nvCxnSpPr>
        <p:spPr>
          <a:xfrm>
            <a:off x="5280225" y="3599825"/>
            <a:ext cx="0" cy="93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" name="Google Shape;186;p20">
            <a:extLst>
              <a:ext uri="{FF2B5EF4-FFF2-40B4-BE49-F238E27FC236}">
                <a16:creationId xmlns:a16="http://schemas.microsoft.com/office/drawing/2014/main" id="{95B17EE3-B81A-731A-2D29-B7E0781DCEC8}"/>
              </a:ext>
            </a:extLst>
          </p:cNvPr>
          <p:cNvSpPr txBox="1"/>
          <p:nvPr/>
        </p:nvSpPr>
        <p:spPr>
          <a:xfrm>
            <a:off x="3420700" y="3718334"/>
            <a:ext cx="1552500" cy="3387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Delegation &amp; Invocation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1" name="Google Shape;187;p20">
            <a:extLst>
              <a:ext uri="{FF2B5EF4-FFF2-40B4-BE49-F238E27FC236}">
                <a16:creationId xmlns:a16="http://schemas.microsoft.com/office/drawing/2014/main" id="{68185DEF-9AC8-4F53-5F9B-85DB60589D1D}"/>
              </a:ext>
            </a:extLst>
          </p:cNvPr>
          <p:cNvSpPr txBox="1"/>
          <p:nvPr/>
        </p:nvSpPr>
        <p:spPr>
          <a:xfrm>
            <a:off x="5280225" y="3856927"/>
            <a:ext cx="677700" cy="461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A2A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" name="Google Shape;188;p20">
            <a:extLst>
              <a:ext uri="{FF2B5EF4-FFF2-40B4-BE49-F238E27FC236}">
                <a16:creationId xmlns:a16="http://schemas.microsoft.com/office/drawing/2014/main" id="{05231E78-5B2C-A1C4-9A57-51946AAF3051}"/>
              </a:ext>
            </a:extLst>
          </p:cNvPr>
          <p:cNvSpPr txBox="1"/>
          <p:nvPr/>
        </p:nvSpPr>
        <p:spPr>
          <a:xfrm>
            <a:off x="2703600" y="2715584"/>
            <a:ext cx="1552500" cy="3540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9999"/>
                </a:solidFill>
              </a:rPr>
              <a:t>Delegation/Issuance</a:t>
            </a:r>
            <a:endParaRPr sz="1100">
              <a:solidFill>
                <a:srgbClr val="999999"/>
              </a:solidFill>
            </a:endParaRPr>
          </a:p>
        </p:txBody>
      </p:sp>
      <p:sp>
        <p:nvSpPr>
          <p:cNvPr id="23" name="Google Shape;189;p20">
            <a:extLst>
              <a:ext uri="{FF2B5EF4-FFF2-40B4-BE49-F238E27FC236}">
                <a16:creationId xmlns:a16="http://schemas.microsoft.com/office/drawing/2014/main" id="{831FA027-856C-B52C-FBD4-A7A58577ABCD}"/>
              </a:ext>
            </a:extLst>
          </p:cNvPr>
          <p:cNvSpPr txBox="1"/>
          <p:nvPr/>
        </p:nvSpPr>
        <p:spPr>
          <a:xfrm>
            <a:off x="5896213" y="1393475"/>
            <a:ext cx="19857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Agrees on capability &amp; obligation.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'i': Issuer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'a': issuee vid, resource, ability, limitation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'r': obligations, assumptions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4" name="Google Shape;190;p20">
            <a:extLst>
              <a:ext uri="{FF2B5EF4-FFF2-40B4-BE49-F238E27FC236}">
                <a16:creationId xmlns:a16="http://schemas.microsoft.com/office/drawing/2014/main" id="{793AB4B2-F5F1-00CF-DCD9-A52D8F6C3CE7}"/>
              </a:ext>
            </a:extLst>
          </p:cNvPr>
          <p:cNvSpPr txBox="1"/>
          <p:nvPr/>
        </p:nvSpPr>
        <p:spPr>
          <a:xfrm>
            <a:off x="4973188" y="1976938"/>
            <a:ext cx="19857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Agrees on  capability &amp; obligation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'i': Issuer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'a': issuee vid, resource, ability, limitation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'r': obligations, assumptions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'e': I2I edge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" name="Google Shape;191;p20">
            <a:extLst>
              <a:ext uri="{FF2B5EF4-FFF2-40B4-BE49-F238E27FC236}">
                <a16:creationId xmlns:a16="http://schemas.microsoft.com/office/drawing/2014/main" id="{3A87C17C-F24B-1488-35FC-6A9CEE5558AF}"/>
              </a:ext>
            </a:extLst>
          </p:cNvPr>
          <p:cNvSpPr txBox="1"/>
          <p:nvPr/>
        </p:nvSpPr>
        <p:spPr>
          <a:xfrm>
            <a:off x="4417738" y="5350575"/>
            <a:ext cx="539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Authorization &lt;-&gt; Presentation&lt;-&gt;Invocation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6" name="Google Shape;192;p20">
            <a:extLst>
              <a:ext uri="{FF2B5EF4-FFF2-40B4-BE49-F238E27FC236}">
                <a16:creationId xmlns:a16="http://schemas.microsoft.com/office/drawing/2014/main" id="{1F66DF39-AF29-F1DA-646A-3F346A2C68A7}"/>
              </a:ext>
            </a:extLst>
          </p:cNvPr>
          <p:cNvSpPr/>
          <p:nvPr/>
        </p:nvSpPr>
        <p:spPr>
          <a:xfrm>
            <a:off x="5381788" y="3221400"/>
            <a:ext cx="160500" cy="160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93;p20">
            <a:extLst>
              <a:ext uri="{FF2B5EF4-FFF2-40B4-BE49-F238E27FC236}">
                <a16:creationId xmlns:a16="http://schemas.microsoft.com/office/drawing/2014/main" id="{EF0B79E5-6856-1570-521E-55FB8C67B815}"/>
              </a:ext>
            </a:extLst>
          </p:cNvPr>
          <p:cNvSpPr/>
          <p:nvPr/>
        </p:nvSpPr>
        <p:spPr>
          <a:xfrm>
            <a:off x="7842388" y="3221400"/>
            <a:ext cx="160500" cy="160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94;p20">
            <a:extLst>
              <a:ext uri="{FF2B5EF4-FFF2-40B4-BE49-F238E27FC236}">
                <a16:creationId xmlns:a16="http://schemas.microsoft.com/office/drawing/2014/main" id="{1DC29426-7665-90E0-67FC-82BA857E22B4}"/>
              </a:ext>
            </a:extLst>
          </p:cNvPr>
          <p:cNvSpPr txBox="1"/>
          <p:nvPr/>
        </p:nvSpPr>
        <p:spPr>
          <a:xfrm>
            <a:off x="5528488" y="3109200"/>
            <a:ext cx="5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</a:rPr>
              <a:t>VID</a:t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29" name="Google Shape;195;p20">
            <a:extLst>
              <a:ext uri="{FF2B5EF4-FFF2-40B4-BE49-F238E27FC236}">
                <a16:creationId xmlns:a16="http://schemas.microsoft.com/office/drawing/2014/main" id="{884FB978-8009-81B4-4691-DA2E677269C6}"/>
              </a:ext>
            </a:extLst>
          </p:cNvPr>
          <p:cNvSpPr txBox="1"/>
          <p:nvPr/>
        </p:nvSpPr>
        <p:spPr>
          <a:xfrm>
            <a:off x="7441738" y="3109200"/>
            <a:ext cx="5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</a:rPr>
              <a:t>VID</a:t>
            </a:r>
            <a:endParaRPr sz="1300">
              <a:solidFill>
                <a:schemeClr val="accent1"/>
              </a:solidFill>
            </a:endParaRPr>
          </a:p>
        </p:txBody>
      </p:sp>
      <p:grpSp>
        <p:nvGrpSpPr>
          <p:cNvPr id="30" name="Google Shape;196;p20">
            <a:extLst>
              <a:ext uri="{FF2B5EF4-FFF2-40B4-BE49-F238E27FC236}">
                <a16:creationId xmlns:a16="http://schemas.microsoft.com/office/drawing/2014/main" id="{EF37CD45-8098-6872-645E-C91ED422AAAD}"/>
              </a:ext>
            </a:extLst>
          </p:cNvPr>
          <p:cNvGrpSpPr/>
          <p:nvPr/>
        </p:nvGrpSpPr>
        <p:grpSpPr>
          <a:xfrm>
            <a:off x="5740963" y="1070375"/>
            <a:ext cx="256800" cy="323100"/>
            <a:chOff x="706125" y="536575"/>
            <a:chExt cx="256800" cy="323100"/>
          </a:xfrm>
        </p:grpSpPr>
        <p:sp>
          <p:nvSpPr>
            <p:cNvPr id="31" name="Google Shape;197;p20">
              <a:extLst>
                <a:ext uri="{FF2B5EF4-FFF2-40B4-BE49-F238E27FC236}">
                  <a16:creationId xmlns:a16="http://schemas.microsoft.com/office/drawing/2014/main" id="{9982EB58-69D9-3448-F1F0-BF6DC967C4A4}"/>
                </a:ext>
              </a:extLst>
            </p:cNvPr>
            <p:cNvSpPr/>
            <p:nvPr/>
          </p:nvSpPr>
          <p:spPr>
            <a:xfrm>
              <a:off x="706125" y="569725"/>
              <a:ext cx="256800" cy="2568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98;p20">
              <a:extLst>
                <a:ext uri="{FF2B5EF4-FFF2-40B4-BE49-F238E27FC236}">
                  <a16:creationId xmlns:a16="http://schemas.microsoft.com/office/drawing/2014/main" id="{8BE890A5-35CB-D21C-E972-9143061CA862}"/>
                </a:ext>
              </a:extLst>
            </p:cNvPr>
            <p:cNvSpPr txBox="1"/>
            <p:nvPr/>
          </p:nvSpPr>
          <p:spPr>
            <a:xfrm>
              <a:off x="706125" y="536575"/>
              <a:ext cx="256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chemeClr val="dk2"/>
                  </a:solidFill>
                </a:rPr>
                <a:t>1</a:t>
              </a:r>
              <a:endParaRPr sz="900" b="1">
                <a:solidFill>
                  <a:schemeClr val="dk2"/>
                </a:solidFill>
              </a:endParaRPr>
            </a:p>
          </p:txBody>
        </p:sp>
      </p:grpSp>
      <p:grpSp>
        <p:nvGrpSpPr>
          <p:cNvPr id="33" name="Google Shape;199;p20">
            <a:extLst>
              <a:ext uri="{FF2B5EF4-FFF2-40B4-BE49-F238E27FC236}">
                <a16:creationId xmlns:a16="http://schemas.microsoft.com/office/drawing/2014/main" id="{7E6F22D7-0ABD-E4E6-5BB2-3F333F449EC3}"/>
              </a:ext>
            </a:extLst>
          </p:cNvPr>
          <p:cNvGrpSpPr/>
          <p:nvPr/>
        </p:nvGrpSpPr>
        <p:grpSpPr>
          <a:xfrm>
            <a:off x="4716388" y="2277975"/>
            <a:ext cx="256800" cy="323100"/>
            <a:chOff x="706125" y="536575"/>
            <a:chExt cx="256800" cy="323100"/>
          </a:xfrm>
        </p:grpSpPr>
        <p:sp>
          <p:nvSpPr>
            <p:cNvPr id="34" name="Google Shape;200;p20">
              <a:extLst>
                <a:ext uri="{FF2B5EF4-FFF2-40B4-BE49-F238E27FC236}">
                  <a16:creationId xmlns:a16="http://schemas.microsoft.com/office/drawing/2014/main" id="{A6CD9E42-FBB8-CD92-734B-3272D196E95C}"/>
                </a:ext>
              </a:extLst>
            </p:cNvPr>
            <p:cNvSpPr/>
            <p:nvPr/>
          </p:nvSpPr>
          <p:spPr>
            <a:xfrm>
              <a:off x="706125" y="569725"/>
              <a:ext cx="256800" cy="2568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01;p20">
              <a:extLst>
                <a:ext uri="{FF2B5EF4-FFF2-40B4-BE49-F238E27FC236}">
                  <a16:creationId xmlns:a16="http://schemas.microsoft.com/office/drawing/2014/main" id="{65EEBD82-756D-C76C-680A-3C410358996A}"/>
                </a:ext>
              </a:extLst>
            </p:cNvPr>
            <p:cNvSpPr txBox="1"/>
            <p:nvPr/>
          </p:nvSpPr>
          <p:spPr>
            <a:xfrm>
              <a:off x="706125" y="536575"/>
              <a:ext cx="256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chemeClr val="dk2"/>
                  </a:solidFill>
                </a:rPr>
                <a:t>2</a:t>
              </a:r>
              <a:endParaRPr sz="900" b="1">
                <a:solidFill>
                  <a:schemeClr val="dk2"/>
                </a:solidFill>
              </a:endParaRPr>
            </a:p>
          </p:txBody>
        </p:sp>
      </p:grpSp>
      <p:grpSp>
        <p:nvGrpSpPr>
          <p:cNvPr id="36" name="Google Shape;202;p20">
            <a:extLst>
              <a:ext uri="{FF2B5EF4-FFF2-40B4-BE49-F238E27FC236}">
                <a16:creationId xmlns:a16="http://schemas.microsoft.com/office/drawing/2014/main" id="{605EC018-B15A-33B2-F9A0-99B56B8D430F}"/>
              </a:ext>
            </a:extLst>
          </p:cNvPr>
          <p:cNvGrpSpPr/>
          <p:nvPr/>
        </p:nvGrpSpPr>
        <p:grpSpPr>
          <a:xfrm>
            <a:off x="7440813" y="2854175"/>
            <a:ext cx="256800" cy="323100"/>
            <a:chOff x="706125" y="536575"/>
            <a:chExt cx="256800" cy="323100"/>
          </a:xfrm>
        </p:grpSpPr>
        <p:sp>
          <p:nvSpPr>
            <p:cNvPr id="37" name="Google Shape;203;p20">
              <a:extLst>
                <a:ext uri="{FF2B5EF4-FFF2-40B4-BE49-F238E27FC236}">
                  <a16:creationId xmlns:a16="http://schemas.microsoft.com/office/drawing/2014/main" id="{8F11EBD6-9050-C90C-9A5C-BFB9D1785452}"/>
                </a:ext>
              </a:extLst>
            </p:cNvPr>
            <p:cNvSpPr/>
            <p:nvPr/>
          </p:nvSpPr>
          <p:spPr>
            <a:xfrm>
              <a:off x="706125" y="569725"/>
              <a:ext cx="256800" cy="2568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04;p20">
              <a:extLst>
                <a:ext uri="{FF2B5EF4-FFF2-40B4-BE49-F238E27FC236}">
                  <a16:creationId xmlns:a16="http://schemas.microsoft.com/office/drawing/2014/main" id="{70F4CB5A-D030-EB52-A210-60D50849977B}"/>
                </a:ext>
              </a:extLst>
            </p:cNvPr>
            <p:cNvSpPr txBox="1"/>
            <p:nvPr/>
          </p:nvSpPr>
          <p:spPr>
            <a:xfrm>
              <a:off x="706125" y="536575"/>
              <a:ext cx="256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chemeClr val="dk2"/>
                  </a:solidFill>
                </a:rPr>
                <a:t>3</a:t>
              </a:r>
              <a:endParaRPr sz="900" b="1">
                <a:solidFill>
                  <a:schemeClr val="dk2"/>
                </a:solidFill>
              </a:endParaRPr>
            </a:p>
          </p:txBody>
        </p:sp>
      </p:grpSp>
      <p:grpSp>
        <p:nvGrpSpPr>
          <p:cNvPr id="39" name="Google Shape;205;p20">
            <a:extLst>
              <a:ext uri="{FF2B5EF4-FFF2-40B4-BE49-F238E27FC236}">
                <a16:creationId xmlns:a16="http://schemas.microsoft.com/office/drawing/2014/main" id="{2327DA13-8694-F1B1-EA6A-57BF2F91C816}"/>
              </a:ext>
            </a:extLst>
          </p:cNvPr>
          <p:cNvGrpSpPr/>
          <p:nvPr/>
        </p:nvGrpSpPr>
        <p:grpSpPr>
          <a:xfrm>
            <a:off x="7441738" y="3426025"/>
            <a:ext cx="256800" cy="323100"/>
            <a:chOff x="706125" y="536575"/>
            <a:chExt cx="256800" cy="323100"/>
          </a:xfrm>
        </p:grpSpPr>
        <p:sp>
          <p:nvSpPr>
            <p:cNvPr id="40" name="Google Shape;206;p20">
              <a:extLst>
                <a:ext uri="{FF2B5EF4-FFF2-40B4-BE49-F238E27FC236}">
                  <a16:creationId xmlns:a16="http://schemas.microsoft.com/office/drawing/2014/main" id="{1668218B-B585-3885-3347-20EE54CE9247}"/>
                </a:ext>
              </a:extLst>
            </p:cNvPr>
            <p:cNvSpPr/>
            <p:nvPr/>
          </p:nvSpPr>
          <p:spPr>
            <a:xfrm>
              <a:off x="706125" y="569725"/>
              <a:ext cx="256800" cy="2568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07;p20">
              <a:extLst>
                <a:ext uri="{FF2B5EF4-FFF2-40B4-BE49-F238E27FC236}">
                  <a16:creationId xmlns:a16="http://schemas.microsoft.com/office/drawing/2014/main" id="{856DCDA9-8F72-88FB-A4A9-4E5D746863CE}"/>
                </a:ext>
              </a:extLst>
            </p:cNvPr>
            <p:cNvSpPr txBox="1"/>
            <p:nvPr/>
          </p:nvSpPr>
          <p:spPr>
            <a:xfrm>
              <a:off x="706125" y="536575"/>
              <a:ext cx="256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chemeClr val="dk2"/>
                  </a:solidFill>
                </a:rPr>
                <a:t>4</a:t>
              </a:r>
              <a:endParaRPr sz="900" b="1">
                <a:solidFill>
                  <a:schemeClr val="dk2"/>
                </a:solidFill>
              </a:endParaRPr>
            </a:p>
          </p:txBody>
        </p:sp>
      </p:grpSp>
      <p:sp>
        <p:nvSpPr>
          <p:cNvPr id="42" name="Google Shape;208;p20">
            <a:extLst>
              <a:ext uri="{FF2B5EF4-FFF2-40B4-BE49-F238E27FC236}">
                <a16:creationId xmlns:a16="http://schemas.microsoft.com/office/drawing/2014/main" id="{BBE07126-18C1-29B6-A2F2-AB2FB9D168FA}"/>
              </a:ext>
            </a:extLst>
          </p:cNvPr>
          <p:cNvSpPr txBox="1"/>
          <p:nvPr/>
        </p:nvSpPr>
        <p:spPr>
          <a:xfrm>
            <a:off x="876638" y="944125"/>
            <a:ext cx="232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ACDC: ordered field map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43" name="Google Shape;209;p20">
            <a:extLst>
              <a:ext uri="{FF2B5EF4-FFF2-40B4-BE49-F238E27FC236}">
                <a16:creationId xmlns:a16="http://schemas.microsoft.com/office/drawing/2014/main" id="{58E2101A-91C3-7B80-CD6A-4C58A76F38C1}"/>
              </a:ext>
            </a:extLst>
          </p:cNvPr>
          <p:cNvCxnSpPr>
            <a:endCxn id="23" idx="1"/>
          </p:cNvCxnSpPr>
          <p:nvPr/>
        </p:nvCxnSpPr>
        <p:spPr>
          <a:xfrm rot="10800000" flipH="1">
            <a:off x="5506513" y="1678325"/>
            <a:ext cx="389700" cy="966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44" name="Google Shape;210;p20">
            <a:extLst>
              <a:ext uri="{FF2B5EF4-FFF2-40B4-BE49-F238E27FC236}">
                <a16:creationId xmlns:a16="http://schemas.microsoft.com/office/drawing/2014/main" id="{8B8C2873-9196-4ACF-8B57-5337180998B9}"/>
              </a:ext>
            </a:extLst>
          </p:cNvPr>
          <p:cNvCxnSpPr/>
          <p:nvPr/>
        </p:nvCxnSpPr>
        <p:spPr>
          <a:xfrm rot="10800000" flipH="1">
            <a:off x="5554738" y="1818625"/>
            <a:ext cx="2246700" cy="128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5" name="Google Shape;211;p20">
            <a:extLst>
              <a:ext uri="{FF2B5EF4-FFF2-40B4-BE49-F238E27FC236}">
                <a16:creationId xmlns:a16="http://schemas.microsoft.com/office/drawing/2014/main" id="{853DB9CC-9F38-5C5F-D60A-DBB31EB350FA}"/>
              </a:ext>
            </a:extLst>
          </p:cNvPr>
          <p:cNvGrpSpPr/>
          <p:nvPr/>
        </p:nvGrpSpPr>
        <p:grpSpPr>
          <a:xfrm>
            <a:off x="7440813" y="1977575"/>
            <a:ext cx="256800" cy="292500"/>
            <a:chOff x="706125" y="536575"/>
            <a:chExt cx="256800" cy="292500"/>
          </a:xfrm>
        </p:grpSpPr>
        <p:sp>
          <p:nvSpPr>
            <p:cNvPr id="46" name="Google Shape;212;p20">
              <a:extLst>
                <a:ext uri="{FF2B5EF4-FFF2-40B4-BE49-F238E27FC236}">
                  <a16:creationId xmlns:a16="http://schemas.microsoft.com/office/drawing/2014/main" id="{7F644E14-4159-E550-9F13-0F1B089FA644}"/>
                </a:ext>
              </a:extLst>
            </p:cNvPr>
            <p:cNvSpPr/>
            <p:nvPr/>
          </p:nvSpPr>
          <p:spPr>
            <a:xfrm>
              <a:off x="706125" y="569725"/>
              <a:ext cx="256800" cy="2568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13;p20">
              <a:extLst>
                <a:ext uri="{FF2B5EF4-FFF2-40B4-BE49-F238E27FC236}">
                  <a16:creationId xmlns:a16="http://schemas.microsoft.com/office/drawing/2014/main" id="{24CB8CB7-3DCF-AFAF-4801-76607ACB8BB8}"/>
                </a:ext>
              </a:extLst>
            </p:cNvPr>
            <p:cNvSpPr txBox="1"/>
            <p:nvPr/>
          </p:nvSpPr>
          <p:spPr>
            <a:xfrm>
              <a:off x="706125" y="536575"/>
              <a:ext cx="256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chemeClr val="dk2"/>
                  </a:solidFill>
                </a:rPr>
                <a:t>3'</a:t>
              </a:r>
              <a:endParaRPr sz="700" b="1">
                <a:solidFill>
                  <a:schemeClr val="dk2"/>
                </a:solidFill>
              </a:endParaRPr>
            </a:p>
          </p:txBody>
        </p:sp>
      </p:grpSp>
      <p:sp>
        <p:nvSpPr>
          <p:cNvPr id="48" name="Google Shape;214;p20">
            <a:extLst>
              <a:ext uri="{FF2B5EF4-FFF2-40B4-BE49-F238E27FC236}">
                <a16:creationId xmlns:a16="http://schemas.microsoft.com/office/drawing/2014/main" id="{96513AA0-75CB-1A85-5CB1-D5B602E7DA68}"/>
              </a:ext>
            </a:extLst>
          </p:cNvPr>
          <p:cNvSpPr txBox="1"/>
          <p:nvPr/>
        </p:nvSpPr>
        <p:spPr>
          <a:xfrm>
            <a:off x="2405601" y="3176975"/>
            <a:ext cx="19857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Agrees on capability &amp; obligation.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'i': Issuer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'a': issuee vid, resource, ability, limitation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'r': obligations, assumptions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49" name="Google Shape;215;p20">
            <a:extLst>
              <a:ext uri="{FF2B5EF4-FFF2-40B4-BE49-F238E27FC236}">
                <a16:creationId xmlns:a16="http://schemas.microsoft.com/office/drawing/2014/main" id="{768B3D93-52C4-7BA8-98B9-7339DEAA926D}"/>
              </a:ext>
            </a:extLst>
          </p:cNvPr>
          <p:cNvGrpSpPr/>
          <p:nvPr/>
        </p:nvGrpSpPr>
        <p:grpSpPr>
          <a:xfrm>
            <a:off x="2412976" y="2854175"/>
            <a:ext cx="256800" cy="292500"/>
            <a:chOff x="706125" y="536575"/>
            <a:chExt cx="256800" cy="292500"/>
          </a:xfrm>
        </p:grpSpPr>
        <p:sp>
          <p:nvSpPr>
            <p:cNvPr id="50" name="Google Shape;216;p20">
              <a:extLst>
                <a:ext uri="{FF2B5EF4-FFF2-40B4-BE49-F238E27FC236}">
                  <a16:creationId xmlns:a16="http://schemas.microsoft.com/office/drawing/2014/main" id="{96B53205-CFAC-9DA0-6C15-1138ED4DD7E9}"/>
                </a:ext>
              </a:extLst>
            </p:cNvPr>
            <p:cNvSpPr/>
            <p:nvPr/>
          </p:nvSpPr>
          <p:spPr>
            <a:xfrm>
              <a:off x="706125" y="569725"/>
              <a:ext cx="256800" cy="2568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17;p20">
              <a:extLst>
                <a:ext uri="{FF2B5EF4-FFF2-40B4-BE49-F238E27FC236}">
                  <a16:creationId xmlns:a16="http://schemas.microsoft.com/office/drawing/2014/main" id="{807CA2C9-C35A-900E-2386-80EF5061F8B0}"/>
                </a:ext>
              </a:extLst>
            </p:cNvPr>
            <p:cNvSpPr txBox="1"/>
            <p:nvPr/>
          </p:nvSpPr>
          <p:spPr>
            <a:xfrm>
              <a:off x="706125" y="536575"/>
              <a:ext cx="256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chemeClr val="dk2"/>
                  </a:solidFill>
                </a:rPr>
                <a:t>1'</a:t>
              </a:r>
              <a:endParaRPr sz="700" b="1">
                <a:solidFill>
                  <a:schemeClr val="dk2"/>
                </a:solidFill>
              </a:endParaRPr>
            </a:p>
          </p:txBody>
        </p:sp>
      </p:grpSp>
      <p:sp>
        <p:nvSpPr>
          <p:cNvPr id="52" name="Google Shape;218;p20">
            <a:extLst>
              <a:ext uri="{FF2B5EF4-FFF2-40B4-BE49-F238E27FC236}">
                <a16:creationId xmlns:a16="http://schemas.microsoft.com/office/drawing/2014/main" id="{ABF055AB-D954-1DDF-817E-BD0E4AC38511}"/>
              </a:ext>
            </a:extLst>
          </p:cNvPr>
          <p:cNvSpPr txBox="1"/>
          <p:nvPr/>
        </p:nvSpPr>
        <p:spPr>
          <a:xfrm>
            <a:off x="6122038" y="3921086"/>
            <a:ext cx="1985700" cy="10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Agrees on  terms of use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'i': Issuer -"bespoke"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'a': issuee vid, resource, ability, limitation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'r': obligations, assumptions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'e': I2I edge 1, 2, …</a:t>
            </a:r>
            <a:endParaRPr sz="8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53" name="Google Shape;219;p20">
            <a:extLst>
              <a:ext uri="{FF2B5EF4-FFF2-40B4-BE49-F238E27FC236}">
                <a16:creationId xmlns:a16="http://schemas.microsoft.com/office/drawing/2014/main" id="{0E2713D8-A6D4-70C9-49CD-5DF74C2546D5}"/>
              </a:ext>
            </a:extLst>
          </p:cNvPr>
          <p:cNvCxnSpPr/>
          <p:nvPr/>
        </p:nvCxnSpPr>
        <p:spPr>
          <a:xfrm rot="10800000">
            <a:off x="5257988" y="2701500"/>
            <a:ext cx="906600" cy="1388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54" name="Google Shape;220;p20">
            <a:extLst>
              <a:ext uri="{FF2B5EF4-FFF2-40B4-BE49-F238E27FC236}">
                <a16:creationId xmlns:a16="http://schemas.microsoft.com/office/drawing/2014/main" id="{D6A1F9E9-2DA8-0C97-B5D1-DB200F3CC9E0}"/>
              </a:ext>
            </a:extLst>
          </p:cNvPr>
          <p:cNvCxnSpPr/>
          <p:nvPr/>
        </p:nvCxnSpPr>
        <p:spPr>
          <a:xfrm rot="10800000">
            <a:off x="3765463" y="3672225"/>
            <a:ext cx="2431200" cy="42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1323299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155409B-879C-FCD0-E105-D7504738B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" y="129540"/>
            <a:ext cx="10287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F846C2-4690-8CDB-AAC4-C66A5D628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7180" y="129540"/>
            <a:ext cx="868045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6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64592" y="109728"/>
            <a:ext cx="8732520" cy="502920"/>
          </a:xfrm>
          <a:prstGeom prst="roundRect">
            <a:avLst/>
          </a:prstGeom>
          <a:solidFill>
            <a:srgbClr val="0B4F8A"/>
          </a:solidFill>
          <a:ln w="15240">
            <a:solidFill>
              <a:srgbClr val="0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dirty="0">
                <a:solidFill>
                  <a:srgbClr val="FFFFFF"/>
                </a:solidFill>
                <a:latin typeface="Aptos"/>
              </a:rPr>
              <a:t>ACDC: Ordered Field Map – Agent Authorization &amp; Delegation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21240" y="137160"/>
            <a:ext cx="2011680" cy="384048"/>
          </a:xfrm>
          <a:prstGeom prst="roundRect">
            <a:avLst/>
          </a:prstGeom>
          <a:solidFill>
            <a:srgbClr val="EEF7FF"/>
          </a:solidFill>
          <a:ln w="15240">
            <a:solidFill>
              <a:srgbClr val="B9D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B4F8A"/>
                </a:solidFill>
                <a:latin typeface="Aptos"/>
              </a:rPr>
              <a:t>v0.1  |  2026-09-23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2578608"/>
            <a:ext cx="1874519" cy="868680"/>
          </a:xfrm>
          <a:prstGeom prst="roundRect">
            <a:avLst/>
          </a:prstGeom>
          <a:solidFill>
            <a:srgbClr val="EEF7FF"/>
          </a:solidFill>
          <a:ln w="15240">
            <a:solidFill>
              <a:srgbClr val="8BA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4F8A"/>
                </a:solidFill>
                <a:latin typeface="Aptos"/>
              </a:rPr>
              <a:t>Other Issuers
of Authorities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749808"/>
            <a:ext cx="1828800" cy="868680"/>
          </a:xfrm>
          <a:prstGeom prst="roundRect">
            <a:avLst/>
          </a:prstGeom>
          <a:solidFill>
            <a:srgbClr val="EEF7FF"/>
          </a:solidFill>
          <a:ln w="15240">
            <a:solidFill>
              <a:srgbClr val="168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4F8A"/>
                </a:solidFill>
                <a:latin typeface="Aptos"/>
              </a:rPr>
              <a:t>Application
(Client Application)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694944"/>
            <a:ext cx="2148840" cy="914400"/>
          </a:xfrm>
          <a:prstGeom prst="roundRect">
            <a:avLst/>
          </a:prstGeom>
          <a:solidFill>
            <a:srgbClr val="E9F6E7"/>
          </a:solidFill>
          <a:ln w="15240">
            <a:solidFill>
              <a:srgbClr val="299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99447"/>
                </a:solidFill>
                <a:latin typeface="Aptos"/>
              </a:rPr>
              <a:t>Service Authority
(Issuer)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907792"/>
            <a:ext cx="1508760" cy="804672"/>
          </a:xfrm>
          <a:prstGeom prst="roundRect">
            <a:avLst/>
          </a:prstGeom>
          <a:solidFill>
            <a:srgbClr val="F0EAFE"/>
          </a:solidFill>
          <a:ln w="15240">
            <a:solidFill>
              <a:srgbClr val="6E4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22222"/>
                </a:solidFill>
                <a:latin typeface="Aptos"/>
              </a:rPr>
              <a:t>Agent
(Client)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45168" y="2578608"/>
            <a:ext cx="1965960" cy="868680"/>
          </a:xfrm>
          <a:prstGeom prst="roundRect">
            <a:avLst/>
          </a:prstGeom>
          <a:solidFill>
            <a:srgbClr val="FFF0E3"/>
          </a:solidFill>
          <a:ln w="15240">
            <a:solidFill>
              <a:srgbClr val="E87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87518"/>
                </a:solidFill>
                <a:latin typeface="Aptos"/>
              </a:rPr>
              <a:t>Service
(Server)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0288" y="4828032"/>
            <a:ext cx="1874519" cy="758952"/>
          </a:xfrm>
          <a:prstGeom prst="roundRect">
            <a:avLst/>
          </a:prstGeom>
          <a:solidFill>
            <a:srgbClr val="EEF7FF"/>
          </a:solidFill>
          <a:ln w="15240">
            <a:solidFill>
              <a:srgbClr val="7FA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0B4F8A"/>
                </a:solidFill>
                <a:latin typeface="Aptos"/>
              </a:rPr>
              <a:t>Other Agent
(Peer Agent)</a:t>
            </a:r>
          </a:p>
        </p:txBody>
      </p:sp>
      <p:sp>
        <p:nvSpPr>
          <p:cNvPr id="10" name="Oval 9"/>
          <p:cNvSpPr/>
          <p:nvPr/>
        </p:nvSpPr>
        <p:spPr>
          <a:xfrm>
            <a:off x="6446520" y="804672"/>
            <a:ext cx="292608" cy="292608"/>
          </a:xfrm>
          <a:prstGeom prst="ellipse">
            <a:avLst/>
          </a:prstGeom>
          <a:solidFill>
            <a:srgbClr val="299447"/>
          </a:solidFill>
          <a:ln>
            <a:solidFill>
              <a:srgbClr val="299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621792"/>
            <a:ext cx="1874519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299447"/>
                </a:solidFill>
                <a:latin typeface="Aptos"/>
              </a:rPr>
              <a:t>Delegation / Issuance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72200" y="1143000"/>
            <a:ext cx="3108960" cy="0"/>
          </a:xfrm>
          <a:prstGeom prst="line">
            <a:avLst/>
          </a:prstGeom>
          <a:ln w="25400">
            <a:solidFill>
              <a:srgbClr val="29944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0" y="1298448"/>
            <a:ext cx="182880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00" b="0">
                <a:solidFill>
                  <a:srgbClr val="299447"/>
                </a:solidFill>
                <a:latin typeface="Aptos"/>
              </a:rPr>
              <a:t>Issuer → Application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2147314" y="2682240"/>
            <a:ext cx="292608" cy="292608"/>
          </a:xfrm>
          <a:prstGeom prst="ellipse">
            <a:avLst/>
          </a:prstGeom>
          <a:solidFill>
            <a:srgbClr val="6E4CC3"/>
          </a:solidFill>
          <a:ln>
            <a:solidFill>
              <a:srgbClr val="6E4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87168" y="2487168"/>
            <a:ext cx="1874519" cy="32918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00" b="1">
                <a:solidFill>
                  <a:srgbClr val="6E4CC3"/>
                </a:solidFill>
                <a:latin typeface="Aptos"/>
              </a:rPr>
              <a:t>Delegation / Issuance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03120" y="3017520"/>
            <a:ext cx="2514600" cy="0"/>
          </a:xfrm>
          <a:prstGeom prst="line">
            <a:avLst/>
          </a:prstGeom>
          <a:ln w="21590">
            <a:solidFill>
              <a:srgbClr val="6E4CC3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71800" y="3154680"/>
            <a:ext cx="173736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00" b="1">
                <a:solidFill>
                  <a:srgbClr val="6E4CC3"/>
                </a:solidFill>
                <a:latin typeface="Aptos"/>
              </a:rPr>
              <a:t>Trust Federation</a:t>
            </a:r>
          </a:p>
        </p:txBody>
      </p:sp>
      <p:sp>
        <p:nvSpPr>
          <p:cNvPr id="18" name="Oval 17"/>
          <p:cNvSpPr/>
          <p:nvPr/>
        </p:nvSpPr>
        <p:spPr>
          <a:xfrm>
            <a:off x="4837176" y="1911096"/>
            <a:ext cx="292608" cy="292608"/>
          </a:xfrm>
          <a:prstGeom prst="ellipse">
            <a:avLst/>
          </a:prstGeom>
          <a:solidFill>
            <a:srgbClr val="299447"/>
          </a:solidFill>
          <a:ln>
            <a:solidFill>
              <a:srgbClr val="299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9386" y="1708999"/>
            <a:ext cx="141732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dirty="0">
                <a:solidFill>
                  <a:srgbClr val="1683E6"/>
                </a:solidFill>
                <a:latin typeface="Aptos"/>
              </a:rPr>
              <a:t>Delegation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57800" y="1618488"/>
            <a:ext cx="0" cy="1271016"/>
          </a:xfrm>
          <a:prstGeom prst="line">
            <a:avLst/>
          </a:prstGeom>
          <a:ln w="27940">
            <a:solidFill>
              <a:srgbClr val="1683E6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57800" y="1993392"/>
            <a:ext cx="150876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00" b="0" dirty="0">
                <a:solidFill>
                  <a:srgbClr val="1683E6"/>
                </a:solidFill>
                <a:latin typeface="Aptos"/>
              </a:rPr>
              <a:t>Application → Agent</a:t>
            </a:r>
          </a:p>
        </p:txBody>
      </p:sp>
      <p:sp>
        <p:nvSpPr>
          <p:cNvPr id="22" name="Oval 21"/>
          <p:cNvSpPr/>
          <p:nvPr/>
        </p:nvSpPr>
        <p:spPr>
          <a:xfrm>
            <a:off x="5545074" y="4453295"/>
            <a:ext cx="292608" cy="292608"/>
          </a:xfrm>
          <a:prstGeom prst="ellipse">
            <a:avLst/>
          </a:prstGeom>
          <a:solidFill>
            <a:srgbClr val="E87518"/>
          </a:solidFill>
          <a:ln>
            <a:solidFill>
              <a:srgbClr val="E87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93408" y="4151376"/>
            <a:ext cx="141732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E87518"/>
                </a:solidFill>
                <a:latin typeface="Aptos"/>
              </a:rPr>
              <a:t>A2A</a:t>
            </a:r>
          </a:p>
        </p:txBody>
      </p:sp>
      <p:cxnSp>
        <p:nvCxnSpPr>
          <p:cNvPr id="24" name="Connector 23"/>
          <p:cNvCxnSpPr>
            <a:cxnSpLocks/>
          </p:cNvCxnSpPr>
          <p:nvPr/>
        </p:nvCxnSpPr>
        <p:spPr>
          <a:xfrm>
            <a:off x="5417820" y="3675888"/>
            <a:ext cx="27432" cy="1188720"/>
          </a:xfrm>
          <a:prstGeom prst="line">
            <a:avLst/>
          </a:prstGeom>
          <a:ln w="29209">
            <a:solidFill>
              <a:srgbClr val="E8751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34734" y="4451688"/>
            <a:ext cx="1737360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00" b="0" dirty="0">
                <a:solidFill>
                  <a:srgbClr val="E87518"/>
                </a:solidFill>
                <a:latin typeface="Aptos"/>
              </a:rPr>
              <a:t>Agent ↔ Other Agent</a:t>
            </a:r>
          </a:p>
        </p:txBody>
      </p:sp>
      <p:sp>
        <p:nvSpPr>
          <p:cNvPr id="26" name="Oval 25"/>
          <p:cNvSpPr/>
          <p:nvPr/>
        </p:nvSpPr>
        <p:spPr>
          <a:xfrm>
            <a:off x="8796528" y="2542032"/>
            <a:ext cx="292608" cy="292608"/>
          </a:xfrm>
          <a:prstGeom prst="ellipse">
            <a:avLst/>
          </a:prstGeom>
          <a:solidFill>
            <a:srgbClr val="299447"/>
          </a:solidFill>
          <a:ln>
            <a:solidFill>
              <a:srgbClr val="299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176272"/>
            <a:ext cx="1874519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683E6"/>
                </a:solidFill>
                <a:latin typeface="Aptos"/>
              </a:rPr>
              <a:t>Invocation / Authorization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26480" y="2999232"/>
            <a:ext cx="3218688" cy="0"/>
          </a:xfrm>
          <a:prstGeom prst="line">
            <a:avLst/>
          </a:prstGeom>
          <a:ln w="27940">
            <a:solidFill>
              <a:srgbClr val="1683E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75120" y="3136392"/>
            <a:ext cx="164592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683E6"/>
                </a:solidFill>
                <a:latin typeface="Aptos"/>
              </a:rPr>
              <a:t>VID</a:t>
            </a:r>
          </a:p>
        </p:txBody>
      </p:sp>
      <p:sp>
        <p:nvSpPr>
          <p:cNvPr id="30" name="Oval 29"/>
          <p:cNvSpPr/>
          <p:nvPr/>
        </p:nvSpPr>
        <p:spPr>
          <a:xfrm>
            <a:off x="8796527" y="3364992"/>
            <a:ext cx="393191" cy="292608"/>
          </a:xfrm>
          <a:prstGeom prst="ellipse">
            <a:avLst/>
          </a:prstGeom>
          <a:solidFill>
            <a:srgbClr val="299447"/>
          </a:solidFill>
          <a:ln>
            <a:solidFill>
              <a:srgbClr val="299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b="1" dirty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31" name="Connector 30"/>
          <p:cNvCxnSpPr/>
          <p:nvPr/>
        </p:nvCxnSpPr>
        <p:spPr>
          <a:xfrm flipH="1">
            <a:off x="6126480" y="3364992"/>
            <a:ext cx="3218688" cy="0"/>
          </a:xfrm>
          <a:prstGeom prst="line">
            <a:avLst/>
          </a:prstGeom>
          <a:ln w="20320">
            <a:solidFill>
              <a:srgbClr val="299447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12280" y="3456432"/>
            <a:ext cx="1508760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00" b="0">
                <a:solidFill>
                  <a:srgbClr val="299447"/>
                </a:solidFill>
                <a:latin typeface="Aptos"/>
              </a:rPr>
              <a:t>Service Response</a:t>
            </a:r>
          </a:p>
        </p:txBody>
      </p:sp>
      <p:sp>
        <p:nvSpPr>
          <p:cNvPr id="33" name="Oval 32"/>
          <p:cNvSpPr/>
          <p:nvPr/>
        </p:nvSpPr>
        <p:spPr>
          <a:xfrm>
            <a:off x="8796528" y="3794760"/>
            <a:ext cx="292608" cy="292608"/>
          </a:xfrm>
          <a:prstGeom prst="ellipse">
            <a:avLst/>
          </a:prstGeom>
          <a:solidFill>
            <a:srgbClr val="6E4CC3"/>
          </a:solidFill>
          <a:ln>
            <a:solidFill>
              <a:srgbClr val="6E4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3703320"/>
            <a:ext cx="1417320" cy="438912"/>
          </a:xfrm>
          <a:prstGeom prst="roundRect">
            <a:avLst/>
          </a:prstGeom>
          <a:solidFill>
            <a:srgbClr val="F0EAFE"/>
          </a:solidFill>
          <a:ln w="15240">
            <a:solidFill>
              <a:srgbClr val="6E4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E4CC3"/>
                </a:solidFill>
                <a:latin typeface="Aptos"/>
              </a:rPr>
              <a:t>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133087"/>
            <a:ext cx="1417320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00" b="0">
                <a:solidFill>
                  <a:srgbClr val="6E4CC3"/>
                </a:solidFill>
                <a:latin typeface="Aptos"/>
              </a:rPr>
              <a:t>Agent ↔ Service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1164" y="3839210"/>
            <a:ext cx="1143000" cy="384048"/>
          </a:xfrm>
          <a:prstGeom prst="roundRect">
            <a:avLst/>
          </a:prstGeom>
          <a:solidFill>
            <a:srgbClr val="FFF0E3"/>
          </a:solidFill>
          <a:ln w="15240">
            <a:solidFill>
              <a:srgbClr val="E87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E87518"/>
                </a:solidFill>
                <a:latin typeface="Aptos"/>
              </a:rPr>
              <a:t>A2A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4282" y="4239935"/>
            <a:ext cx="1143000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700" b="0" dirty="0">
                <a:solidFill>
                  <a:srgbClr val="E87518"/>
                </a:solidFill>
                <a:latin typeface="Aptos"/>
              </a:rPr>
              <a:t>Agent ↔ Other Agent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1417320"/>
            <a:ext cx="2057400" cy="841248"/>
          </a:xfrm>
          <a:prstGeom prst="roundRect">
            <a:avLst/>
          </a:prstGeom>
          <a:solidFill>
            <a:srgbClr val="EEF7FF"/>
          </a:solidFill>
          <a:ln w="15240">
            <a:solidFill>
              <a:srgbClr val="8CC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50" b="0">
                <a:solidFill>
                  <a:srgbClr val="0B4F8A"/>
                </a:solidFill>
                <a:latin typeface="Aptos"/>
              </a:rPr>
              <a:t>Agrees on capability &amp; obligation
• i: Issuer
• a: issuee VID, resource, ability, limitation
• r: obligations, assumptions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0" y="1572768"/>
            <a:ext cx="169164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0">
                <a:solidFill>
                  <a:srgbClr val="6E6E6E"/>
                </a:solidFill>
                <a:latin typeface="Aptos"/>
              </a:rPr>
              <a:t>Delegation
(Application → Agent)
 i / a / r / 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95728" y="3429000"/>
            <a:ext cx="20574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50" b="0" dirty="0">
                <a:solidFill>
                  <a:srgbClr val="6E4CC3"/>
                </a:solidFill>
                <a:latin typeface="Aptos"/>
              </a:rPr>
              <a:t>Trust Federation
• i: Issuer
• a: </a:t>
            </a:r>
            <a:r>
              <a:rPr sz="850" b="0" dirty="0" err="1">
                <a:solidFill>
                  <a:srgbClr val="6E4CC3"/>
                </a:solidFill>
                <a:latin typeface="Aptos"/>
              </a:rPr>
              <a:t>issuee</a:t>
            </a:r>
            <a:r>
              <a:rPr sz="850" b="0" dirty="0">
                <a:solidFill>
                  <a:srgbClr val="6E4CC3"/>
                </a:solidFill>
                <a:latin typeface="Aptos"/>
              </a:rPr>
              <a:t> VID, resource, ability, limitation
• r: obligations, assumptions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3529584"/>
            <a:ext cx="2148840" cy="850392"/>
          </a:xfrm>
          <a:prstGeom prst="roundRect">
            <a:avLst/>
          </a:prstGeom>
          <a:solidFill>
            <a:srgbClr val="FFF0E3"/>
          </a:solidFill>
          <a:ln w="15240">
            <a:solidFill>
              <a:srgbClr val="F2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19" b="0">
                <a:solidFill>
                  <a:srgbClr val="E87518"/>
                </a:solidFill>
                <a:latin typeface="Aptos"/>
              </a:rPr>
              <a:t>Agrees on terms of use
• i: Issuer – “bespoke”
• a: issuee VID, resource, ability, limitation
• r: obligations, assumptions
• e: l2l edge</a:t>
            </a:r>
          </a:p>
        </p:txBody>
      </p:sp>
      <p:sp>
        <p:nvSpPr>
          <p:cNvPr id="42" name="Oval 41"/>
          <p:cNvSpPr/>
          <p:nvPr/>
        </p:nvSpPr>
        <p:spPr>
          <a:xfrm>
            <a:off x="6025896" y="2898648"/>
            <a:ext cx="201168" cy="201168"/>
          </a:xfrm>
          <a:prstGeom prst="ellipse">
            <a:avLst/>
          </a:prstGeom>
          <a:solidFill>
            <a:srgbClr val="1683E6"/>
          </a:solidFill>
          <a:ln>
            <a:solidFill>
              <a:srgbClr val="0D5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244584" y="2898648"/>
            <a:ext cx="201168" cy="201168"/>
          </a:xfrm>
          <a:prstGeom prst="ellipse">
            <a:avLst/>
          </a:prstGeom>
          <a:solidFill>
            <a:srgbClr val="1683E6"/>
          </a:solidFill>
          <a:ln>
            <a:solidFill>
              <a:srgbClr val="0D5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64592" y="5699760"/>
            <a:ext cx="297180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19" b="1" dirty="0">
                <a:solidFill>
                  <a:srgbClr val="0B4F8A"/>
                </a:solidFill>
                <a:latin typeface="Aptos"/>
              </a:rPr>
              <a:t>PROCESS FLOW (STEP ORDER)</a:t>
            </a:r>
            <a:r>
              <a:rPr sz="819" b="0" dirty="0">
                <a:solidFill>
                  <a:srgbClr val="0B4F8A"/>
                </a:solidFill>
                <a:latin typeface="Aptos"/>
              </a:rPr>
              <a:t>
1 Issuance/Delegation   1′ Trust Federation   2 Delegation   2.5 A2A   3 Invocation/Authorization   3′ Service Response   4 MCP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46120" y="5699760"/>
            <a:ext cx="274320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50" b="1" dirty="0">
                <a:solidFill>
                  <a:srgbClr val="0B4F8A"/>
                </a:solidFill>
                <a:latin typeface="Aptos"/>
              </a:rPr>
              <a:t>CHANNEL LEGEND</a:t>
            </a:r>
            <a:r>
              <a:rPr sz="850" b="0" dirty="0">
                <a:solidFill>
                  <a:srgbClr val="0B4F8A"/>
                </a:solidFill>
                <a:latin typeface="Aptos"/>
              </a:rPr>
              <a:t>
Delegation →   VID →   A2A ↔   Trust Federation ⇄   MCP ↔ Service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08192" y="5699760"/>
            <a:ext cx="23317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19" b="1" dirty="0">
                <a:solidFill>
                  <a:srgbClr val="0B4F8A"/>
                </a:solidFill>
                <a:latin typeface="Aptos"/>
              </a:rPr>
              <a:t>ACDC FIELD ABBREVIATIONS</a:t>
            </a:r>
            <a:r>
              <a:rPr sz="819" b="0" dirty="0">
                <a:solidFill>
                  <a:srgbClr val="0B4F8A"/>
                </a:solidFill>
                <a:latin typeface="Aptos"/>
              </a:rPr>
              <a:t>
 </a:t>
            </a:r>
            <a:r>
              <a:rPr sz="819" b="0" dirty="0" err="1">
                <a:solidFill>
                  <a:srgbClr val="0B4F8A"/>
                </a:solidFill>
                <a:latin typeface="Aptos"/>
              </a:rPr>
              <a:t>i</a:t>
            </a:r>
            <a:r>
              <a:rPr sz="819" b="0" dirty="0">
                <a:solidFill>
                  <a:srgbClr val="0B4F8A"/>
                </a:solidFill>
                <a:latin typeface="Aptos"/>
              </a:rPr>
              <a:t> = Issuer     a = Attribute
 r = Rules      e = Edge
 l2l = ledger-to-ledger (or link-to-link)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42248" y="5699760"/>
            <a:ext cx="3163824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00" b="1" dirty="0">
                <a:solidFill>
                  <a:srgbClr val="0B4F8A"/>
                </a:solidFill>
                <a:latin typeface="Aptos"/>
              </a:rPr>
              <a:t>KEY IMPROVEMENTS</a:t>
            </a:r>
            <a:r>
              <a:rPr sz="800" b="0" dirty="0">
                <a:solidFill>
                  <a:srgbClr val="0B4F8A"/>
                </a:solidFill>
                <a:latin typeface="Aptos"/>
              </a:rPr>
              <a:t>
• Correct step order: 1 → 1′ → 2 → 2.5 → 3 → 3′ → 4
• One-way delegation is explicit
• MCP and A2A are visually separated
• VID = Verifiable Identifier / AID (KERI-based)
• Other Issuers = Trust Federation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" y="6693408"/>
            <a:ext cx="4572000" cy="1097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750" b="0" dirty="0">
                <a:solidFill>
                  <a:srgbClr val="6E6E6E"/>
                </a:solidFill>
                <a:latin typeface="Aptos"/>
              </a:rPr>
              <a:t>Editable PowerPoint diagram – all major elements are native shapes/text.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481F37-4B76-2FB1-645C-6F194FC39D3C}"/>
              </a:ext>
            </a:extLst>
          </p:cNvPr>
          <p:cNvSpPr txBox="1"/>
          <p:nvPr/>
        </p:nvSpPr>
        <p:spPr>
          <a:xfrm>
            <a:off x="5506467" y="4469035"/>
            <a:ext cx="6842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ptos"/>
              </a:rPr>
              <a:t>2.5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94CEF5-5A90-2341-C31A-D60962C00AD6}"/>
              </a:ext>
            </a:extLst>
          </p:cNvPr>
          <p:cNvSpPr txBox="1"/>
          <p:nvPr/>
        </p:nvSpPr>
        <p:spPr>
          <a:xfrm>
            <a:off x="8830052" y="3401568"/>
            <a:ext cx="6842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ptos"/>
              </a:rPr>
              <a:t>3’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1D57FC-40F6-1201-B4CE-4DC73D531456}"/>
              </a:ext>
            </a:extLst>
          </p:cNvPr>
          <p:cNvSpPr txBox="1"/>
          <p:nvPr/>
        </p:nvSpPr>
        <p:spPr>
          <a:xfrm>
            <a:off x="2154170" y="2699337"/>
            <a:ext cx="6842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ptos"/>
              </a:rPr>
              <a:t>1’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60F840-70A8-54B6-049D-001D31B14511}"/>
              </a:ext>
            </a:extLst>
          </p:cNvPr>
          <p:cNvSpPr/>
          <p:nvPr/>
        </p:nvSpPr>
        <p:spPr>
          <a:xfrm>
            <a:off x="57150" y="336550"/>
            <a:ext cx="12192000" cy="21145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E62D9239-7E65-F4E5-CE29-4A6E9487D7D2}"/>
              </a:ext>
            </a:extLst>
          </p:cNvPr>
          <p:cNvSpPr/>
          <p:nvPr/>
        </p:nvSpPr>
        <p:spPr>
          <a:xfrm>
            <a:off x="247650" y="469900"/>
            <a:ext cx="2867025" cy="1866900"/>
          </a:xfrm>
          <a:prstGeom prst="roundRect">
            <a:avLst>
              <a:gd name="adj" fmla="val 4081"/>
            </a:avLst>
          </a:prstGeom>
          <a:solidFill>
            <a:srgbClr val="0F2B4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BE4E5B5-428D-6D5B-D970-BD4F35CA1546}"/>
              </a:ext>
            </a:extLst>
          </p:cNvPr>
          <p:cNvSpPr/>
          <p:nvPr/>
        </p:nvSpPr>
        <p:spPr>
          <a:xfrm>
            <a:off x="57150" y="33655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694A307E-8CE3-3C49-3C23-05BEE02B969B}"/>
              </a:ext>
            </a:extLst>
          </p:cNvPr>
          <p:cNvSpPr/>
          <p:nvPr/>
        </p:nvSpPr>
        <p:spPr>
          <a:xfrm>
            <a:off x="3228975" y="469900"/>
            <a:ext cx="2867025" cy="186690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7C951FD2-B723-FA64-4F97-B423FBAA18FF}"/>
              </a:ext>
            </a:extLst>
          </p:cNvPr>
          <p:cNvSpPr/>
          <p:nvPr/>
        </p:nvSpPr>
        <p:spPr>
          <a:xfrm>
            <a:off x="6210300" y="469900"/>
            <a:ext cx="2867025" cy="1866900"/>
          </a:xfrm>
          <a:prstGeom prst="roundRect">
            <a:avLst>
              <a:gd name="adj" fmla="val 408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AD239EAD-7DA4-7D4D-2879-D4228659124E}"/>
              </a:ext>
            </a:extLst>
          </p:cNvPr>
          <p:cNvSpPr/>
          <p:nvPr/>
        </p:nvSpPr>
        <p:spPr>
          <a:xfrm>
            <a:off x="9191625" y="469900"/>
            <a:ext cx="2867025" cy="1866900"/>
          </a:xfrm>
          <a:prstGeom prst="roundRect">
            <a:avLst>
              <a:gd name="adj" fmla="val 408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13996A10-B36B-BE42-FD24-D75ED44B7CF2}"/>
              </a:ext>
            </a:extLst>
          </p:cNvPr>
          <p:cNvSpPr/>
          <p:nvPr/>
        </p:nvSpPr>
        <p:spPr>
          <a:xfrm>
            <a:off x="390525" y="774700"/>
            <a:ext cx="25812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764F941F-5F0A-4AD4-3ECF-E9DA0305372B}"/>
              </a:ext>
            </a:extLst>
          </p:cNvPr>
          <p:cNvSpPr/>
          <p:nvPr/>
        </p:nvSpPr>
        <p:spPr>
          <a:xfrm>
            <a:off x="3371850" y="774700"/>
            <a:ext cx="2581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33ABFB09-C064-CC0F-6FC8-2B112BCABFBD}"/>
              </a:ext>
            </a:extLst>
          </p:cNvPr>
          <p:cNvSpPr/>
          <p:nvPr/>
        </p:nvSpPr>
        <p:spPr>
          <a:xfrm>
            <a:off x="6353175" y="774700"/>
            <a:ext cx="2581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E4C97F86-EB98-2ABB-DBD0-A68B0A4CDAB4}"/>
              </a:ext>
            </a:extLst>
          </p:cNvPr>
          <p:cNvSpPr/>
          <p:nvPr/>
        </p:nvSpPr>
        <p:spPr>
          <a:xfrm>
            <a:off x="6353175" y="1241425"/>
            <a:ext cx="2581275" cy="952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092E0E95-5DA9-A711-1FE6-2104F4179CB9}"/>
              </a:ext>
            </a:extLst>
          </p:cNvPr>
          <p:cNvSpPr/>
          <p:nvPr/>
        </p:nvSpPr>
        <p:spPr>
          <a:xfrm>
            <a:off x="9334500" y="774700"/>
            <a:ext cx="2581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Rounded Rectangle 37">
            <a:extLst>
              <a:ext uri="{FF2B5EF4-FFF2-40B4-BE49-F238E27FC236}">
                <a16:creationId xmlns:a16="http://schemas.microsoft.com/office/drawing/2014/main" id="{49C1B933-90A2-B789-F917-6B1BF5C614FF}"/>
              </a:ext>
            </a:extLst>
          </p:cNvPr>
          <p:cNvSpPr/>
          <p:nvPr/>
        </p:nvSpPr>
        <p:spPr>
          <a:xfrm>
            <a:off x="390525" y="8604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Rounded Rectangle 38">
            <a:extLst>
              <a:ext uri="{FF2B5EF4-FFF2-40B4-BE49-F238E27FC236}">
                <a16:creationId xmlns:a16="http://schemas.microsoft.com/office/drawing/2014/main" id="{C81A6891-A64F-E2BD-4A54-071DB6142340}"/>
              </a:ext>
            </a:extLst>
          </p:cNvPr>
          <p:cNvSpPr/>
          <p:nvPr/>
        </p:nvSpPr>
        <p:spPr>
          <a:xfrm>
            <a:off x="390525" y="10604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Rounded Rectangle 39">
            <a:extLst>
              <a:ext uri="{FF2B5EF4-FFF2-40B4-BE49-F238E27FC236}">
                <a16:creationId xmlns:a16="http://schemas.microsoft.com/office/drawing/2014/main" id="{20691DED-0638-6DD7-32D2-44515E48CC40}"/>
              </a:ext>
            </a:extLst>
          </p:cNvPr>
          <p:cNvSpPr/>
          <p:nvPr/>
        </p:nvSpPr>
        <p:spPr>
          <a:xfrm>
            <a:off x="390525" y="12604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40">
            <a:extLst>
              <a:ext uri="{FF2B5EF4-FFF2-40B4-BE49-F238E27FC236}">
                <a16:creationId xmlns:a16="http://schemas.microsoft.com/office/drawing/2014/main" id="{6A69724D-E39F-EF64-0864-C0A10592328D}"/>
              </a:ext>
            </a:extLst>
          </p:cNvPr>
          <p:cNvSpPr/>
          <p:nvPr/>
        </p:nvSpPr>
        <p:spPr>
          <a:xfrm>
            <a:off x="390525" y="14605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Rounded Rectangle 41">
            <a:extLst>
              <a:ext uri="{FF2B5EF4-FFF2-40B4-BE49-F238E27FC236}">
                <a16:creationId xmlns:a16="http://schemas.microsoft.com/office/drawing/2014/main" id="{4882A5D1-1676-B308-18C8-BBD6629EAF46}"/>
              </a:ext>
            </a:extLst>
          </p:cNvPr>
          <p:cNvSpPr/>
          <p:nvPr/>
        </p:nvSpPr>
        <p:spPr>
          <a:xfrm>
            <a:off x="390525" y="16605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Rounded Rectangle 42">
            <a:extLst>
              <a:ext uri="{FF2B5EF4-FFF2-40B4-BE49-F238E27FC236}">
                <a16:creationId xmlns:a16="http://schemas.microsoft.com/office/drawing/2014/main" id="{E77DE054-77B2-B419-4D46-8FD19F0E3BE1}"/>
              </a:ext>
            </a:extLst>
          </p:cNvPr>
          <p:cNvSpPr/>
          <p:nvPr/>
        </p:nvSpPr>
        <p:spPr>
          <a:xfrm>
            <a:off x="390525" y="18605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" name="Rounded Rectangle 43">
            <a:extLst>
              <a:ext uri="{FF2B5EF4-FFF2-40B4-BE49-F238E27FC236}">
                <a16:creationId xmlns:a16="http://schemas.microsoft.com/office/drawing/2014/main" id="{25A680CD-3FF9-460D-5470-5EDB59CABE64}"/>
              </a:ext>
            </a:extLst>
          </p:cNvPr>
          <p:cNvSpPr/>
          <p:nvPr/>
        </p:nvSpPr>
        <p:spPr>
          <a:xfrm>
            <a:off x="390525" y="20605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20" name="Picture 44">
            <a:extLst>
              <a:ext uri="{FF2B5EF4-FFF2-40B4-BE49-F238E27FC236}">
                <a16:creationId xmlns:a16="http://schemas.microsoft.com/office/drawing/2014/main" id="{E45E8453-9B16-8D38-EC51-2BDF60C6A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588963"/>
            <a:ext cx="133350" cy="133350"/>
          </a:xfrm>
          <a:prstGeom prst="rect">
            <a:avLst/>
          </a:prstGeom>
        </p:spPr>
      </p:pic>
      <p:pic>
        <p:nvPicPr>
          <p:cNvPr id="21" name="Picture 45">
            <a:extLst>
              <a:ext uri="{FF2B5EF4-FFF2-40B4-BE49-F238E27FC236}">
                <a16:creationId xmlns:a16="http://schemas.microsoft.com/office/drawing/2014/main" id="{F960D3E9-6D25-EF75-9573-BCABA46C3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588963"/>
            <a:ext cx="133350" cy="133350"/>
          </a:xfrm>
          <a:prstGeom prst="rect">
            <a:avLst/>
          </a:prstGeom>
        </p:spPr>
      </p:pic>
      <p:pic>
        <p:nvPicPr>
          <p:cNvPr id="22" name="Picture 46">
            <a:extLst>
              <a:ext uri="{FF2B5EF4-FFF2-40B4-BE49-F238E27FC236}">
                <a16:creationId xmlns:a16="http://schemas.microsoft.com/office/drawing/2014/main" id="{DC8E02ED-3AA3-0D72-8618-913088639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588963"/>
            <a:ext cx="171450" cy="133350"/>
          </a:xfrm>
          <a:prstGeom prst="rect">
            <a:avLst/>
          </a:prstGeom>
        </p:spPr>
      </p:pic>
      <p:pic>
        <p:nvPicPr>
          <p:cNvPr id="23" name="Picture 47">
            <a:extLst>
              <a:ext uri="{FF2B5EF4-FFF2-40B4-BE49-F238E27FC236}">
                <a16:creationId xmlns:a16="http://schemas.microsoft.com/office/drawing/2014/main" id="{C20F892A-BCDF-2B5A-4E75-D4EAB8C2F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588963"/>
            <a:ext cx="133350" cy="133350"/>
          </a:xfrm>
          <a:prstGeom prst="rect">
            <a:avLst/>
          </a:prstGeom>
        </p:spPr>
      </p:pic>
      <p:sp>
        <p:nvSpPr>
          <p:cNvPr id="24" name="TextBox 57">
            <a:extLst>
              <a:ext uri="{FF2B5EF4-FFF2-40B4-BE49-F238E27FC236}">
                <a16:creationId xmlns:a16="http://schemas.microsoft.com/office/drawing/2014/main" id="{7537AD9E-3E5A-EC90-175F-7EC8A42E9B08}"/>
              </a:ext>
            </a:extLst>
          </p:cNvPr>
          <p:cNvSpPr txBox="1"/>
          <p:nvPr/>
        </p:nvSpPr>
        <p:spPr>
          <a:xfrm>
            <a:off x="581025" y="574674"/>
            <a:ext cx="2486025" cy="14763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 i="0" u="none" dirty="0">
                <a:solidFill>
                  <a:srgbClr val="FFFFFF"/>
                </a:solidFill>
                <a:latin typeface="Inter"/>
              </a:rPr>
              <a:t>Process Flow (Step Order)</a:t>
            </a:r>
          </a:p>
        </p:txBody>
      </p:sp>
      <p:sp>
        <p:nvSpPr>
          <p:cNvPr id="25" name="TextBox 58">
            <a:extLst>
              <a:ext uri="{FF2B5EF4-FFF2-40B4-BE49-F238E27FC236}">
                <a16:creationId xmlns:a16="http://schemas.microsoft.com/office/drawing/2014/main" id="{454EA14F-9F9D-04E1-3F54-5F671A023F0D}"/>
              </a:ext>
            </a:extLst>
          </p:cNvPr>
          <p:cNvSpPr txBox="1"/>
          <p:nvPr/>
        </p:nvSpPr>
        <p:spPr>
          <a:xfrm>
            <a:off x="3562350" y="574674"/>
            <a:ext cx="2486025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 i="0" u="none" dirty="0">
                <a:solidFill>
                  <a:srgbClr val="0F172A"/>
                </a:solidFill>
                <a:latin typeface="Inter"/>
              </a:rPr>
              <a:t>Channel Legend</a:t>
            </a:r>
          </a:p>
        </p:txBody>
      </p:sp>
      <p:sp>
        <p:nvSpPr>
          <p:cNvPr id="26" name="TextBox 59">
            <a:extLst>
              <a:ext uri="{FF2B5EF4-FFF2-40B4-BE49-F238E27FC236}">
                <a16:creationId xmlns:a16="http://schemas.microsoft.com/office/drawing/2014/main" id="{32D57411-64BE-FE4B-DB47-0F774813719A}"/>
              </a:ext>
            </a:extLst>
          </p:cNvPr>
          <p:cNvSpPr txBox="1"/>
          <p:nvPr/>
        </p:nvSpPr>
        <p:spPr>
          <a:xfrm>
            <a:off x="6581775" y="574674"/>
            <a:ext cx="2447925" cy="13334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 i="0" u="none" dirty="0">
                <a:solidFill>
                  <a:srgbClr val="0369A1"/>
                </a:solidFill>
                <a:latin typeface="Inter"/>
              </a:rPr>
              <a:t>ACDC Field Abbreviations</a:t>
            </a:r>
          </a:p>
        </p:txBody>
      </p:sp>
      <p:sp>
        <p:nvSpPr>
          <p:cNvPr id="27" name="TextBox 60">
            <a:extLst>
              <a:ext uri="{FF2B5EF4-FFF2-40B4-BE49-F238E27FC236}">
                <a16:creationId xmlns:a16="http://schemas.microsoft.com/office/drawing/2014/main" id="{0FD0A97A-5B2A-9B9F-9602-18A3E3D4B287}"/>
              </a:ext>
            </a:extLst>
          </p:cNvPr>
          <p:cNvSpPr txBox="1"/>
          <p:nvPr/>
        </p:nvSpPr>
        <p:spPr>
          <a:xfrm>
            <a:off x="6353175" y="1279524"/>
            <a:ext cx="2676525" cy="5524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 dirty="0">
                <a:solidFill>
                  <a:srgbClr val="0369A1"/>
                </a:solidFill>
                <a:latin typeface="Inter"/>
              </a:rPr>
              <a:t>VID</a:t>
            </a:r>
            <a:r>
              <a:rPr sz="825" b="0" i="0" u="none" dirty="0">
                <a:solidFill>
                  <a:srgbClr val="0369A1"/>
                </a:solidFill>
                <a:latin typeface="Inter"/>
              </a:rPr>
              <a:t>: Verifiable Identifier (AID KERI)</a:t>
            </a:r>
            <a:r>
              <a:rPr dirty="0"/>
              <a:t>
</a:t>
            </a:r>
            <a:r>
              <a:rPr sz="825" b="1" i="0" u="none" dirty="0">
                <a:solidFill>
                  <a:srgbClr val="0369A1"/>
                </a:solidFill>
                <a:latin typeface="Inter"/>
              </a:rPr>
              <a:t>I2I</a:t>
            </a:r>
            <a:r>
              <a:rPr sz="825" b="0" i="0" u="none" dirty="0">
                <a:solidFill>
                  <a:srgbClr val="0369A1"/>
                </a:solidFill>
                <a:latin typeface="Inter"/>
              </a:rPr>
              <a:t>: Ledger-to-ledger / Link-to-link</a:t>
            </a:r>
          </a:p>
        </p:txBody>
      </p:sp>
      <p:sp>
        <p:nvSpPr>
          <p:cNvPr id="28" name="TextBox 61">
            <a:extLst>
              <a:ext uri="{FF2B5EF4-FFF2-40B4-BE49-F238E27FC236}">
                <a16:creationId xmlns:a16="http://schemas.microsoft.com/office/drawing/2014/main" id="{F03A388B-B3ED-0325-F00D-E61F89F99B37}"/>
              </a:ext>
            </a:extLst>
          </p:cNvPr>
          <p:cNvSpPr txBox="1"/>
          <p:nvPr/>
        </p:nvSpPr>
        <p:spPr>
          <a:xfrm>
            <a:off x="9525000" y="574675"/>
            <a:ext cx="2486025" cy="147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 i="0" u="none" dirty="0">
                <a:solidFill>
                  <a:srgbClr val="15803D"/>
                </a:solidFill>
                <a:latin typeface="Inter"/>
              </a:rPr>
              <a:t>Key Improvements</a:t>
            </a:r>
          </a:p>
        </p:txBody>
      </p:sp>
      <p:sp>
        <p:nvSpPr>
          <p:cNvPr id="29" name="TextBox 70">
            <a:extLst>
              <a:ext uri="{FF2B5EF4-FFF2-40B4-BE49-F238E27FC236}">
                <a16:creationId xmlns:a16="http://schemas.microsoft.com/office/drawing/2014/main" id="{E384E907-BCAE-0B97-D064-D734614ED704}"/>
              </a:ext>
            </a:extLst>
          </p:cNvPr>
          <p:cNvSpPr txBox="1"/>
          <p:nvPr/>
        </p:nvSpPr>
        <p:spPr>
          <a:xfrm>
            <a:off x="650830" y="860425"/>
            <a:ext cx="2225859" cy="1666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 dirty="0">
                <a:solidFill>
                  <a:srgbClr val="FFFFFF"/>
                </a:solidFill>
                <a:latin typeface="Inter"/>
              </a:rPr>
              <a:t>Issuance / Delegation</a:t>
            </a:r>
          </a:p>
        </p:txBody>
      </p:sp>
      <p:sp>
        <p:nvSpPr>
          <p:cNvPr id="30" name="TextBox 71">
            <a:extLst>
              <a:ext uri="{FF2B5EF4-FFF2-40B4-BE49-F238E27FC236}">
                <a16:creationId xmlns:a16="http://schemas.microsoft.com/office/drawing/2014/main" id="{9AA60DCF-9449-9603-A299-D030EF22D696}"/>
              </a:ext>
            </a:extLst>
          </p:cNvPr>
          <p:cNvSpPr txBox="1"/>
          <p:nvPr/>
        </p:nvSpPr>
        <p:spPr>
          <a:xfrm>
            <a:off x="650830" y="1060449"/>
            <a:ext cx="2225859" cy="1714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 dirty="0">
                <a:solidFill>
                  <a:srgbClr val="FFFFFF"/>
                </a:solidFill>
                <a:latin typeface="Inter"/>
              </a:rPr>
              <a:t>Trust Federation</a:t>
            </a:r>
          </a:p>
        </p:txBody>
      </p:sp>
      <p:sp>
        <p:nvSpPr>
          <p:cNvPr id="31" name="TextBox 72">
            <a:extLst>
              <a:ext uri="{FF2B5EF4-FFF2-40B4-BE49-F238E27FC236}">
                <a16:creationId xmlns:a16="http://schemas.microsoft.com/office/drawing/2014/main" id="{67490B08-D7BF-18B9-3C78-7590557A24EF}"/>
              </a:ext>
            </a:extLst>
          </p:cNvPr>
          <p:cNvSpPr txBox="1"/>
          <p:nvPr/>
        </p:nvSpPr>
        <p:spPr>
          <a:xfrm>
            <a:off x="650830" y="1260474"/>
            <a:ext cx="2225859" cy="123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 dirty="0">
                <a:solidFill>
                  <a:srgbClr val="FFFFFF"/>
                </a:solidFill>
                <a:latin typeface="Inter"/>
              </a:rPr>
              <a:t>Delegation</a:t>
            </a:r>
          </a:p>
        </p:txBody>
      </p:sp>
      <p:sp>
        <p:nvSpPr>
          <p:cNvPr id="32" name="TextBox 73">
            <a:extLst>
              <a:ext uri="{FF2B5EF4-FFF2-40B4-BE49-F238E27FC236}">
                <a16:creationId xmlns:a16="http://schemas.microsoft.com/office/drawing/2014/main" id="{A4E62D9A-06C9-6864-A6B1-677ED0DA6140}"/>
              </a:ext>
            </a:extLst>
          </p:cNvPr>
          <p:cNvSpPr txBox="1"/>
          <p:nvPr/>
        </p:nvSpPr>
        <p:spPr>
          <a:xfrm>
            <a:off x="650830" y="1460499"/>
            <a:ext cx="2225859" cy="123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 dirty="0">
                <a:solidFill>
                  <a:srgbClr val="FFFFFF"/>
                </a:solidFill>
                <a:latin typeface="Inter"/>
              </a:rPr>
              <a:t>A2A Channel</a:t>
            </a:r>
          </a:p>
        </p:txBody>
      </p:sp>
      <p:sp>
        <p:nvSpPr>
          <p:cNvPr id="33" name="TextBox 74">
            <a:extLst>
              <a:ext uri="{FF2B5EF4-FFF2-40B4-BE49-F238E27FC236}">
                <a16:creationId xmlns:a16="http://schemas.microsoft.com/office/drawing/2014/main" id="{2CF1AEB3-827B-33FE-C89F-BDA55E4E8189}"/>
              </a:ext>
            </a:extLst>
          </p:cNvPr>
          <p:cNvSpPr txBox="1"/>
          <p:nvPr/>
        </p:nvSpPr>
        <p:spPr>
          <a:xfrm>
            <a:off x="650830" y="1660524"/>
            <a:ext cx="2225859" cy="1238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 dirty="0">
                <a:solidFill>
                  <a:srgbClr val="FFFFFF"/>
                </a:solidFill>
                <a:latin typeface="Inter"/>
              </a:rPr>
              <a:t>Invocation / Authorization</a:t>
            </a:r>
          </a:p>
        </p:txBody>
      </p:sp>
      <p:sp>
        <p:nvSpPr>
          <p:cNvPr id="34" name="TextBox 75">
            <a:extLst>
              <a:ext uri="{FF2B5EF4-FFF2-40B4-BE49-F238E27FC236}">
                <a16:creationId xmlns:a16="http://schemas.microsoft.com/office/drawing/2014/main" id="{8B7B56B9-C0AE-C519-72E5-DD1085A7FCE0}"/>
              </a:ext>
            </a:extLst>
          </p:cNvPr>
          <p:cNvSpPr txBox="1"/>
          <p:nvPr/>
        </p:nvSpPr>
        <p:spPr>
          <a:xfrm>
            <a:off x="650830" y="1860549"/>
            <a:ext cx="2225859" cy="1714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 dirty="0">
                <a:solidFill>
                  <a:srgbClr val="FFFFFF"/>
                </a:solidFill>
                <a:latin typeface="Inter"/>
              </a:rPr>
              <a:t>Service Response</a:t>
            </a:r>
          </a:p>
        </p:txBody>
      </p:sp>
      <p:sp>
        <p:nvSpPr>
          <p:cNvPr id="35" name="TextBox 76">
            <a:extLst>
              <a:ext uri="{FF2B5EF4-FFF2-40B4-BE49-F238E27FC236}">
                <a16:creationId xmlns:a16="http://schemas.microsoft.com/office/drawing/2014/main" id="{AEABAE9B-9040-2339-29B6-7035C0AEFB62}"/>
              </a:ext>
            </a:extLst>
          </p:cNvPr>
          <p:cNvSpPr txBox="1"/>
          <p:nvPr/>
        </p:nvSpPr>
        <p:spPr>
          <a:xfrm>
            <a:off x="650830" y="2060574"/>
            <a:ext cx="2225859" cy="1714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 dirty="0">
                <a:solidFill>
                  <a:srgbClr val="FFFFFF"/>
                </a:solidFill>
                <a:latin typeface="Inter"/>
              </a:rPr>
              <a:t>MCP Channel</a:t>
            </a:r>
          </a:p>
        </p:txBody>
      </p:sp>
      <p:sp>
        <p:nvSpPr>
          <p:cNvPr id="36" name="TextBox 77">
            <a:extLst>
              <a:ext uri="{FF2B5EF4-FFF2-40B4-BE49-F238E27FC236}">
                <a16:creationId xmlns:a16="http://schemas.microsoft.com/office/drawing/2014/main" id="{3E095F32-0458-EAA1-3AE2-381C6359EA0B}"/>
              </a:ext>
            </a:extLst>
          </p:cNvPr>
          <p:cNvSpPr txBox="1"/>
          <p:nvPr/>
        </p:nvSpPr>
        <p:spPr>
          <a:xfrm>
            <a:off x="3371851" y="860424"/>
            <a:ext cx="2622946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 u="none" dirty="0">
                <a:solidFill>
                  <a:srgbClr val="16A34A"/>
                </a:solidFill>
                <a:latin typeface="Inter"/>
              </a:rPr>
              <a:t>→ Delegation (Issuer → App)</a:t>
            </a:r>
          </a:p>
        </p:txBody>
      </p:sp>
      <p:sp>
        <p:nvSpPr>
          <p:cNvPr id="37" name="TextBox 78">
            <a:extLst>
              <a:ext uri="{FF2B5EF4-FFF2-40B4-BE49-F238E27FC236}">
                <a16:creationId xmlns:a16="http://schemas.microsoft.com/office/drawing/2014/main" id="{66F7B84F-B431-3945-0290-50D1FE689FAD}"/>
              </a:ext>
            </a:extLst>
          </p:cNvPr>
          <p:cNvSpPr txBox="1"/>
          <p:nvPr/>
        </p:nvSpPr>
        <p:spPr>
          <a:xfrm>
            <a:off x="3371851" y="1041400"/>
            <a:ext cx="2622946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 u="none" dirty="0">
                <a:solidFill>
                  <a:srgbClr val="2563EB"/>
                </a:solidFill>
                <a:latin typeface="Inter"/>
              </a:rPr>
              <a:t>→ VID (Agent → Service)</a:t>
            </a:r>
          </a:p>
        </p:txBody>
      </p:sp>
      <p:sp>
        <p:nvSpPr>
          <p:cNvPr id="38" name="TextBox 79">
            <a:extLst>
              <a:ext uri="{FF2B5EF4-FFF2-40B4-BE49-F238E27FC236}">
                <a16:creationId xmlns:a16="http://schemas.microsoft.com/office/drawing/2014/main" id="{4D39EF0C-16ED-F34E-7B5E-FDF06B40E5A3}"/>
              </a:ext>
            </a:extLst>
          </p:cNvPr>
          <p:cNvSpPr txBox="1"/>
          <p:nvPr/>
        </p:nvSpPr>
        <p:spPr>
          <a:xfrm>
            <a:off x="3371851" y="1222375"/>
            <a:ext cx="2622946" cy="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 u="none">
                <a:solidFill>
                  <a:srgbClr val="EA580C"/>
                </a:solidFill>
                <a:latin typeface="Inter"/>
              </a:rPr>
              <a:t>↔ A2A (Agent ↔ Other Agent)</a:t>
            </a:r>
          </a:p>
        </p:txBody>
      </p:sp>
      <p:sp>
        <p:nvSpPr>
          <p:cNvPr id="39" name="TextBox 80">
            <a:extLst>
              <a:ext uri="{FF2B5EF4-FFF2-40B4-BE49-F238E27FC236}">
                <a16:creationId xmlns:a16="http://schemas.microsoft.com/office/drawing/2014/main" id="{5747A662-E07B-8E25-A786-33DE082260D7}"/>
              </a:ext>
            </a:extLst>
          </p:cNvPr>
          <p:cNvSpPr txBox="1"/>
          <p:nvPr/>
        </p:nvSpPr>
        <p:spPr>
          <a:xfrm>
            <a:off x="3371851" y="1403349"/>
            <a:ext cx="2622946" cy="1704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 u="none" dirty="0">
                <a:solidFill>
                  <a:srgbClr val="2563EB"/>
                </a:solidFill>
                <a:latin typeface="Inter"/>
              </a:rPr>
              <a:t>⤏ Delegation &amp; Invocation</a:t>
            </a:r>
          </a:p>
        </p:txBody>
      </p:sp>
      <p:sp>
        <p:nvSpPr>
          <p:cNvPr id="40" name="TextBox 81">
            <a:extLst>
              <a:ext uri="{FF2B5EF4-FFF2-40B4-BE49-F238E27FC236}">
                <a16:creationId xmlns:a16="http://schemas.microsoft.com/office/drawing/2014/main" id="{258BF3BC-3392-4BC2-AF10-12E4A4CA6C31}"/>
              </a:ext>
            </a:extLst>
          </p:cNvPr>
          <p:cNvSpPr txBox="1"/>
          <p:nvPr/>
        </p:nvSpPr>
        <p:spPr>
          <a:xfrm>
            <a:off x="3371851" y="1584325"/>
            <a:ext cx="2622946" cy="2000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 u="none" dirty="0">
                <a:solidFill>
                  <a:srgbClr val="9333EA"/>
                </a:solidFill>
                <a:latin typeface="Inter"/>
              </a:rPr>
              <a:t>⤏ Trust Federation</a:t>
            </a:r>
          </a:p>
        </p:txBody>
      </p:sp>
      <p:sp>
        <p:nvSpPr>
          <p:cNvPr id="41" name="TextBox 82">
            <a:extLst>
              <a:ext uri="{FF2B5EF4-FFF2-40B4-BE49-F238E27FC236}">
                <a16:creationId xmlns:a16="http://schemas.microsoft.com/office/drawing/2014/main" id="{D2C279C0-9048-D680-A2AD-BC598AF6E74D}"/>
              </a:ext>
            </a:extLst>
          </p:cNvPr>
          <p:cNvSpPr txBox="1"/>
          <p:nvPr/>
        </p:nvSpPr>
        <p:spPr>
          <a:xfrm>
            <a:off x="6353175" y="860425"/>
            <a:ext cx="1589484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 dirty="0" err="1">
                <a:solidFill>
                  <a:srgbClr val="0F172A"/>
                </a:solidFill>
                <a:latin typeface="Inter"/>
              </a:rPr>
              <a:t>i</a:t>
            </a:r>
            <a:r>
              <a:rPr sz="900" b="0" i="0" u="none" dirty="0">
                <a:solidFill>
                  <a:srgbClr val="0F172A"/>
                </a:solidFill>
                <a:latin typeface="Inter"/>
              </a:rPr>
              <a:t> = Issuer</a:t>
            </a:r>
          </a:p>
        </p:txBody>
      </p:sp>
      <p:sp>
        <p:nvSpPr>
          <p:cNvPr id="42" name="TextBox 83">
            <a:extLst>
              <a:ext uri="{FF2B5EF4-FFF2-40B4-BE49-F238E27FC236}">
                <a16:creationId xmlns:a16="http://schemas.microsoft.com/office/drawing/2014/main" id="{99A5F669-28B0-40BF-0329-EF21D20A8972}"/>
              </a:ext>
            </a:extLst>
          </p:cNvPr>
          <p:cNvSpPr txBox="1"/>
          <p:nvPr/>
        </p:nvSpPr>
        <p:spPr>
          <a:xfrm>
            <a:off x="7662862" y="860425"/>
            <a:ext cx="1589484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 dirty="0">
                <a:solidFill>
                  <a:srgbClr val="0F172A"/>
                </a:solidFill>
                <a:latin typeface="Inter"/>
              </a:rPr>
              <a:t>a = Attribute</a:t>
            </a:r>
          </a:p>
        </p:txBody>
      </p:sp>
      <p:sp>
        <p:nvSpPr>
          <p:cNvPr id="43" name="TextBox 84">
            <a:extLst>
              <a:ext uri="{FF2B5EF4-FFF2-40B4-BE49-F238E27FC236}">
                <a16:creationId xmlns:a16="http://schemas.microsoft.com/office/drawing/2014/main" id="{0850295B-B3AD-D40A-5818-2AF2A1CF14EB}"/>
              </a:ext>
            </a:extLst>
          </p:cNvPr>
          <p:cNvSpPr txBox="1"/>
          <p:nvPr/>
        </p:nvSpPr>
        <p:spPr>
          <a:xfrm>
            <a:off x="6353175" y="1041399"/>
            <a:ext cx="1589484" cy="2275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 dirty="0">
                <a:solidFill>
                  <a:srgbClr val="0F172A"/>
                </a:solidFill>
                <a:latin typeface="Inter"/>
              </a:rPr>
              <a:t>r = Rules</a:t>
            </a:r>
          </a:p>
        </p:txBody>
      </p:sp>
      <p:sp>
        <p:nvSpPr>
          <p:cNvPr id="44" name="TextBox 85">
            <a:extLst>
              <a:ext uri="{FF2B5EF4-FFF2-40B4-BE49-F238E27FC236}">
                <a16:creationId xmlns:a16="http://schemas.microsoft.com/office/drawing/2014/main" id="{0992EC0E-45F6-89A1-7027-658636CA5C4C}"/>
              </a:ext>
            </a:extLst>
          </p:cNvPr>
          <p:cNvSpPr txBox="1"/>
          <p:nvPr/>
        </p:nvSpPr>
        <p:spPr>
          <a:xfrm>
            <a:off x="7662862" y="1041400"/>
            <a:ext cx="1589484" cy="1714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 dirty="0">
                <a:solidFill>
                  <a:srgbClr val="0F172A"/>
                </a:solidFill>
                <a:latin typeface="Inter"/>
              </a:rPr>
              <a:t>e = Edge</a:t>
            </a:r>
          </a:p>
        </p:txBody>
      </p:sp>
      <p:sp>
        <p:nvSpPr>
          <p:cNvPr id="45" name="TextBox 86">
            <a:extLst>
              <a:ext uri="{FF2B5EF4-FFF2-40B4-BE49-F238E27FC236}">
                <a16:creationId xmlns:a16="http://schemas.microsoft.com/office/drawing/2014/main" id="{C545EE4C-D1BB-9E16-FFB7-827E28D0B9D5}"/>
              </a:ext>
            </a:extLst>
          </p:cNvPr>
          <p:cNvSpPr txBox="1"/>
          <p:nvPr/>
        </p:nvSpPr>
        <p:spPr>
          <a:xfrm>
            <a:off x="9410700" y="861854"/>
            <a:ext cx="57150" cy="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0" i="0" u="none">
                <a:solidFill>
                  <a:srgbClr val="166534"/>
                </a:solidFill>
                <a:latin typeface="Inter"/>
              </a:rPr>
              <a:t>•</a:t>
            </a:r>
          </a:p>
        </p:txBody>
      </p:sp>
      <p:sp>
        <p:nvSpPr>
          <p:cNvPr id="46" name="TextBox 87">
            <a:extLst>
              <a:ext uri="{FF2B5EF4-FFF2-40B4-BE49-F238E27FC236}">
                <a16:creationId xmlns:a16="http://schemas.microsoft.com/office/drawing/2014/main" id="{52144DF5-C9E3-D9D2-C9AD-8EA137D4B8C4}"/>
              </a:ext>
            </a:extLst>
          </p:cNvPr>
          <p:cNvSpPr txBox="1"/>
          <p:nvPr/>
        </p:nvSpPr>
        <p:spPr>
          <a:xfrm>
            <a:off x="9467850" y="860425"/>
            <a:ext cx="2543175" cy="210442"/>
          </a:xfrm>
          <a:prstGeom prst="rect">
            <a:avLst/>
          </a:prstGeom>
          <a:noFill/>
        </p:spPr>
        <p:txBody>
          <a:bodyPr wrap="square" lIns="5715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072"/>
              </a:lnSpc>
            </a:pPr>
            <a:r>
              <a:rPr sz="825" b="0" i="0" u="none" dirty="0">
                <a:solidFill>
                  <a:srgbClr val="166534"/>
                </a:solidFill>
                <a:latin typeface="Inter"/>
              </a:rPr>
              <a:t>Step numbers ordered: 1 → 1' → 2 → 2.5 → 3 → 3' → 4</a:t>
            </a:r>
          </a:p>
        </p:txBody>
      </p:sp>
      <p:sp>
        <p:nvSpPr>
          <p:cNvPr id="47" name="TextBox 88">
            <a:extLst>
              <a:ext uri="{FF2B5EF4-FFF2-40B4-BE49-F238E27FC236}">
                <a16:creationId xmlns:a16="http://schemas.microsoft.com/office/drawing/2014/main" id="{C82DBFAE-2570-7F2F-05B7-3613CE51092C}"/>
              </a:ext>
            </a:extLst>
          </p:cNvPr>
          <p:cNvSpPr txBox="1"/>
          <p:nvPr/>
        </p:nvSpPr>
        <p:spPr>
          <a:xfrm>
            <a:off x="9410700" y="1134209"/>
            <a:ext cx="57150" cy="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0" i="0" u="none">
                <a:solidFill>
                  <a:srgbClr val="166534"/>
                </a:solidFill>
                <a:latin typeface="Inter"/>
              </a:rPr>
              <a:t>•</a:t>
            </a:r>
          </a:p>
        </p:txBody>
      </p:sp>
      <p:sp>
        <p:nvSpPr>
          <p:cNvPr id="48" name="TextBox 89">
            <a:extLst>
              <a:ext uri="{FF2B5EF4-FFF2-40B4-BE49-F238E27FC236}">
                <a16:creationId xmlns:a16="http://schemas.microsoft.com/office/drawing/2014/main" id="{DC1D446B-3493-1FCB-F7DF-F9FF50C347C7}"/>
              </a:ext>
            </a:extLst>
          </p:cNvPr>
          <p:cNvSpPr txBox="1"/>
          <p:nvPr/>
        </p:nvSpPr>
        <p:spPr>
          <a:xfrm>
            <a:off x="9467850" y="1132780"/>
            <a:ext cx="2781300" cy="191389"/>
          </a:xfrm>
          <a:prstGeom prst="rect">
            <a:avLst/>
          </a:prstGeom>
          <a:noFill/>
        </p:spPr>
        <p:txBody>
          <a:bodyPr wrap="square" lIns="5715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072"/>
              </a:lnSpc>
            </a:pPr>
            <a:r>
              <a:rPr sz="825" b="0" i="0" u="none" dirty="0">
                <a:solidFill>
                  <a:srgbClr val="166534"/>
                </a:solidFill>
                <a:latin typeface="Inter"/>
              </a:rPr>
              <a:t>Delegation direction is strictly one-way.</a:t>
            </a:r>
          </a:p>
        </p:txBody>
      </p:sp>
      <p:sp>
        <p:nvSpPr>
          <p:cNvPr id="49" name="TextBox 90">
            <a:extLst>
              <a:ext uri="{FF2B5EF4-FFF2-40B4-BE49-F238E27FC236}">
                <a16:creationId xmlns:a16="http://schemas.microsoft.com/office/drawing/2014/main" id="{68E102F3-D3D3-7D81-C81E-E6A9FB80FAA0}"/>
              </a:ext>
            </a:extLst>
          </p:cNvPr>
          <p:cNvSpPr txBox="1"/>
          <p:nvPr/>
        </p:nvSpPr>
        <p:spPr>
          <a:xfrm>
            <a:off x="9410700" y="1270387"/>
            <a:ext cx="57150" cy="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0" i="0" u="none">
                <a:solidFill>
                  <a:srgbClr val="166534"/>
                </a:solidFill>
                <a:latin typeface="Inter"/>
              </a:rPr>
              <a:t>•</a:t>
            </a:r>
          </a:p>
        </p:txBody>
      </p:sp>
      <p:sp>
        <p:nvSpPr>
          <p:cNvPr id="50" name="TextBox 91">
            <a:extLst>
              <a:ext uri="{FF2B5EF4-FFF2-40B4-BE49-F238E27FC236}">
                <a16:creationId xmlns:a16="http://schemas.microsoft.com/office/drawing/2014/main" id="{CBBB3343-FB92-2EAE-ABA4-FC0914195045}"/>
              </a:ext>
            </a:extLst>
          </p:cNvPr>
          <p:cNvSpPr txBox="1"/>
          <p:nvPr/>
        </p:nvSpPr>
        <p:spPr>
          <a:xfrm>
            <a:off x="9467850" y="1268957"/>
            <a:ext cx="2781300" cy="134391"/>
          </a:xfrm>
          <a:prstGeom prst="rect">
            <a:avLst/>
          </a:prstGeom>
          <a:noFill/>
        </p:spPr>
        <p:txBody>
          <a:bodyPr wrap="square" lIns="5715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072"/>
              </a:lnSpc>
            </a:pPr>
            <a:r>
              <a:rPr sz="825" b="0" i="0" u="none" dirty="0">
                <a:solidFill>
                  <a:srgbClr val="166534"/>
                </a:solidFill>
                <a:latin typeface="Inter"/>
              </a:rPr>
              <a:t>MCP &amp; A2A channels clearly separated.</a:t>
            </a:r>
          </a:p>
        </p:txBody>
      </p:sp>
      <p:sp>
        <p:nvSpPr>
          <p:cNvPr id="51" name="TextBox 92">
            <a:extLst>
              <a:ext uri="{FF2B5EF4-FFF2-40B4-BE49-F238E27FC236}">
                <a16:creationId xmlns:a16="http://schemas.microsoft.com/office/drawing/2014/main" id="{C1D3DCCB-E96C-C614-9F04-4836033657FD}"/>
              </a:ext>
            </a:extLst>
          </p:cNvPr>
          <p:cNvSpPr txBox="1"/>
          <p:nvPr/>
        </p:nvSpPr>
        <p:spPr>
          <a:xfrm>
            <a:off x="9410700" y="1406565"/>
            <a:ext cx="57150" cy="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0" i="0" u="none">
                <a:solidFill>
                  <a:srgbClr val="166534"/>
                </a:solidFill>
                <a:latin typeface="Inter"/>
              </a:rPr>
              <a:t>•</a:t>
            </a:r>
          </a:p>
        </p:txBody>
      </p:sp>
      <p:sp>
        <p:nvSpPr>
          <p:cNvPr id="52" name="TextBox 93">
            <a:extLst>
              <a:ext uri="{FF2B5EF4-FFF2-40B4-BE49-F238E27FC236}">
                <a16:creationId xmlns:a16="http://schemas.microsoft.com/office/drawing/2014/main" id="{1296D09C-1D9E-EFAF-337C-716B5E690D22}"/>
              </a:ext>
            </a:extLst>
          </p:cNvPr>
          <p:cNvSpPr txBox="1"/>
          <p:nvPr/>
        </p:nvSpPr>
        <p:spPr>
          <a:xfrm>
            <a:off x="9467850" y="1405135"/>
            <a:ext cx="2781300" cy="255387"/>
          </a:xfrm>
          <a:prstGeom prst="rect">
            <a:avLst/>
          </a:prstGeom>
          <a:noFill/>
        </p:spPr>
        <p:txBody>
          <a:bodyPr wrap="square" lIns="5715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072"/>
              </a:lnSpc>
            </a:pPr>
            <a:r>
              <a:rPr sz="825" b="0" i="0" u="none" dirty="0">
                <a:solidFill>
                  <a:srgbClr val="166534"/>
                </a:solidFill>
                <a:latin typeface="Inter"/>
              </a:rPr>
              <a:t>Abbreviations expanded to full field names.</a:t>
            </a:r>
          </a:p>
        </p:txBody>
      </p:sp>
      <p:sp>
        <p:nvSpPr>
          <p:cNvPr id="53" name="TextBox 118">
            <a:extLst>
              <a:ext uri="{FF2B5EF4-FFF2-40B4-BE49-F238E27FC236}">
                <a16:creationId xmlns:a16="http://schemas.microsoft.com/office/drawing/2014/main" id="{297CC2BB-0DF4-BF64-E3EA-24F5549E93F1}"/>
              </a:ext>
            </a:extLst>
          </p:cNvPr>
          <p:cNvSpPr txBox="1"/>
          <p:nvPr/>
        </p:nvSpPr>
        <p:spPr>
          <a:xfrm>
            <a:off x="247650" y="860424"/>
            <a:ext cx="457200" cy="16668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 i="0" u="none" dirty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54" name="TextBox 119">
            <a:extLst>
              <a:ext uri="{FF2B5EF4-FFF2-40B4-BE49-F238E27FC236}">
                <a16:creationId xmlns:a16="http://schemas.microsoft.com/office/drawing/2014/main" id="{EE5E7818-8453-F1F9-7489-4F3D6C587278}"/>
              </a:ext>
            </a:extLst>
          </p:cNvPr>
          <p:cNvSpPr txBox="1"/>
          <p:nvPr/>
        </p:nvSpPr>
        <p:spPr>
          <a:xfrm>
            <a:off x="247650" y="1060449"/>
            <a:ext cx="457200" cy="1238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 i="0" u="none" dirty="0">
                <a:solidFill>
                  <a:srgbClr val="FFFFFF"/>
                </a:solidFill>
                <a:latin typeface="Inter"/>
              </a:rPr>
              <a:t>1'</a:t>
            </a:r>
          </a:p>
        </p:txBody>
      </p:sp>
      <p:sp>
        <p:nvSpPr>
          <p:cNvPr id="55" name="TextBox 120">
            <a:extLst>
              <a:ext uri="{FF2B5EF4-FFF2-40B4-BE49-F238E27FC236}">
                <a16:creationId xmlns:a16="http://schemas.microsoft.com/office/drawing/2014/main" id="{A49E6840-62A2-97D5-6228-CD95140B3C2F}"/>
              </a:ext>
            </a:extLst>
          </p:cNvPr>
          <p:cNvSpPr txBox="1"/>
          <p:nvPr/>
        </p:nvSpPr>
        <p:spPr>
          <a:xfrm>
            <a:off x="247650" y="1260475"/>
            <a:ext cx="457200" cy="1460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 i="0" u="none" dirty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56" name="TextBox 121">
            <a:extLst>
              <a:ext uri="{FF2B5EF4-FFF2-40B4-BE49-F238E27FC236}">
                <a16:creationId xmlns:a16="http://schemas.microsoft.com/office/drawing/2014/main" id="{ACEA0072-3C56-8B8F-6E7F-DF5AAB9AEEF8}"/>
              </a:ext>
            </a:extLst>
          </p:cNvPr>
          <p:cNvSpPr txBox="1"/>
          <p:nvPr/>
        </p:nvSpPr>
        <p:spPr>
          <a:xfrm>
            <a:off x="247650" y="1460499"/>
            <a:ext cx="457200" cy="1460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 i="0" u="none" dirty="0">
                <a:solidFill>
                  <a:srgbClr val="FFFFFF"/>
                </a:solidFill>
                <a:latin typeface="Inter"/>
              </a:rPr>
              <a:t>2.5</a:t>
            </a:r>
          </a:p>
        </p:txBody>
      </p:sp>
      <p:sp>
        <p:nvSpPr>
          <p:cNvPr id="57" name="TextBox 122">
            <a:extLst>
              <a:ext uri="{FF2B5EF4-FFF2-40B4-BE49-F238E27FC236}">
                <a16:creationId xmlns:a16="http://schemas.microsoft.com/office/drawing/2014/main" id="{6E1BE9B9-5061-1677-E77B-6F0BD5E49E25}"/>
              </a:ext>
            </a:extLst>
          </p:cNvPr>
          <p:cNvSpPr txBox="1"/>
          <p:nvPr/>
        </p:nvSpPr>
        <p:spPr>
          <a:xfrm>
            <a:off x="247650" y="1660524"/>
            <a:ext cx="457200" cy="1460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 i="0" u="none" dirty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58" name="TextBox 123">
            <a:extLst>
              <a:ext uri="{FF2B5EF4-FFF2-40B4-BE49-F238E27FC236}">
                <a16:creationId xmlns:a16="http://schemas.microsoft.com/office/drawing/2014/main" id="{593658DB-A02B-61BF-710D-A2EB513ED7B4}"/>
              </a:ext>
            </a:extLst>
          </p:cNvPr>
          <p:cNvSpPr txBox="1"/>
          <p:nvPr/>
        </p:nvSpPr>
        <p:spPr>
          <a:xfrm>
            <a:off x="247650" y="1860549"/>
            <a:ext cx="457200" cy="14607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 i="0" u="none" dirty="0">
                <a:solidFill>
                  <a:srgbClr val="FFFFFF"/>
                </a:solidFill>
                <a:latin typeface="Inter"/>
              </a:rPr>
              <a:t>3'</a:t>
            </a:r>
          </a:p>
        </p:txBody>
      </p:sp>
      <p:sp>
        <p:nvSpPr>
          <p:cNvPr id="59" name="TextBox 124">
            <a:extLst>
              <a:ext uri="{FF2B5EF4-FFF2-40B4-BE49-F238E27FC236}">
                <a16:creationId xmlns:a16="http://schemas.microsoft.com/office/drawing/2014/main" id="{74D0BA75-0EF4-FE8E-B538-B9161F329668}"/>
              </a:ext>
            </a:extLst>
          </p:cNvPr>
          <p:cNvSpPr txBox="1"/>
          <p:nvPr/>
        </p:nvSpPr>
        <p:spPr>
          <a:xfrm>
            <a:off x="247650" y="2060574"/>
            <a:ext cx="457200" cy="14607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 i="0" u="none" dirty="0">
                <a:solidFill>
                  <a:srgbClr val="FFFFFF"/>
                </a:solidFill>
                <a:latin typeface="Inte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14999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644</Words>
  <Application>Microsoft Office PowerPoint</Application>
  <PresentationFormat>와이드스크린</PresentationFormat>
  <Paragraphs>119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Inter</vt:lpstr>
      <vt:lpstr>Aptos</vt:lpstr>
      <vt:lpstr>Arial</vt:lpstr>
      <vt:lpstr>Calibri</vt:lpstr>
      <vt:lpstr>Dosis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sally.you</cp:lastModifiedBy>
  <cp:revision>6</cp:revision>
  <dcterms:created xsi:type="dcterms:W3CDTF">2013-01-27T09:14:16Z</dcterms:created>
  <dcterms:modified xsi:type="dcterms:W3CDTF">2026-09-24T07:17:30Z</dcterms:modified>
  <cp:category/>
</cp:coreProperties>
</file>